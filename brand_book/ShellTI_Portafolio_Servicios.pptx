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6576" cy="50292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6012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DE SERVICIOS ·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Ordenar, modernizar y proteger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tecnológica.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tecnológica pragmática para empresas en crecimiento — arquitectura, automatización, IA aplicada, protección de datos y resiliencia operacional.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6309360"/>
            <a:ext cx="45720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estratégico · uso interno y comercial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MANIFIESTO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convicciones que definen cómo trabajamos.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mirada sobre la tecnología en empresas reales.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6576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517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37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tecnología debe servir al negocio.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43434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vendemos tecnología; vendemos resultados medibles. Cada recomendación se traduce en un ahorro, un riesgo evitado o una decisión más rápida.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28600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2286000"/>
            <a:ext cx="54864" cy="3657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6517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337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simple, antes que lo perfecto.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63440" y="43434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Preferimos quick wins en semanas a roadmaps de 18 meses. Avanzamos en ciclos cortos, con valor visible desde la primera fase.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0" y="228600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0" y="2286000"/>
            <a:ext cx="54864" cy="36576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65176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3337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y automatización como infraestructura.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49640" y="43434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aplicada y la automatización no son proyectos aislados — son la nueva capa operativa. Las integramos en gobierno, seguridad y procesos.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MANIFIESTO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encontramos en empresas de 50 a 500 empleados.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recurrentes que justifican la oferta de ShellTI.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743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65760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gobierno de datos formal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 y sensibles dispersos entre SaaS, planillas y casillas de correo. Sin inventario, sin clasificación, sin responsables.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2286000"/>
            <a:ext cx="2743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2286000"/>
            <a:ext cx="54864" cy="3657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593592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sin arquitectura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41605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de cloud por compras tácticas, no por diseño. Costos crecientes, dependencias ocultas y deuda técnica acumulada.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2286000"/>
            <a:ext cx="2743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2286000"/>
            <a:ext cx="54864" cy="365760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55664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uso, sin reglas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5664" y="41605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usan IA generativa con cuentas personales. Sin políticas, sin auditoría, exponiendo información confidencial.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43416" y="2286000"/>
            <a:ext cx="2743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43416" y="2286000"/>
            <a:ext cx="54864" cy="3657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17736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9317736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plan de continuidad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17736" y="41605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crítica de proveedores y personas clave. Sin backups verificados ni planes de recuperación probados.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Estimaciones internas basadas en assessments y observación de mercado en pymes y mid-market chilenos.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MERCADO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Ordenar. Modernizar. Proteger.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movimientos secuenciales — o simultáneos — que cambian la operación tecnológica.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593592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840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4688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3456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y gobierno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931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Mapeamos activos, datos, procesos y proveedores. Establecemos políticas, responsables y métricas. La empresa pasa de operar a ciegas a operar con tablero.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33672" y="2286000"/>
            <a:ext cx="3593592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33672" y="2286000"/>
            <a:ext cx="54864" cy="3840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07992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246888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07992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MODERNIZAR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507992" y="3456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automatización e IA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07992" y="3931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Rediseñamos arquitecturas, automatizamos procesos manuales e introducimos IA aplicada donde mueve la aguja. Menos esfuerzo, más velocidad, menos costo.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010144" y="2286000"/>
            <a:ext cx="3593592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10144" y="2286000"/>
            <a:ext cx="54864" cy="3840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84464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4" y="246888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84464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8284464" y="3456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y resiliencia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284464" y="3931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Cumplimos Ley 21.719, ISO, NIST y marcos sectoriales. Implementamos controles, monitoreo y planes de continuidad. La operación se vuelve auditable y resistente.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PORTAFOLIO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servicios — un mismo método.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arquitectura modular: el cliente entra por donde más le duele y escala desde ahí.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17830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60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54680" y="2560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DataShield 21.719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Ley 21.719 y Protección de Datos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33672" y="228600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33672" y="2286000"/>
            <a:ext cx="54864" cy="17830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5603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31152" y="2560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07992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ShellGuard Advisory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507992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vCISO y advisory tecnológico ejecutivo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10144" y="228600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10144" y="2286000"/>
            <a:ext cx="54864" cy="1783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25603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707624" y="2560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84464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284464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y uso seguro de IA generativa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425196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4251960"/>
            <a:ext cx="54864" cy="17830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2628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154680" y="4526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31520" y="5074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CloudShift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731520" y="5532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modernización cloud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233672" y="425196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233672" y="4251960"/>
            <a:ext cx="54864" cy="1783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452628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31152" y="4526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507992" y="5074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AutomateOps</a:t>
            </a:r>
            <a:endParaRPr lang="en-US" sz="1700" dirty="0"/>
          </a:p>
        </p:txBody>
      </p:sp>
      <p:sp>
        <p:nvSpPr>
          <p:cNvPr id="34" name="Text 27"/>
          <p:cNvSpPr/>
          <p:nvPr/>
        </p:nvSpPr>
        <p:spPr>
          <a:xfrm>
            <a:off x="4507992" y="5532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e IA aplicada a procesos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010144" y="425196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10144" y="4251960"/>
            <a:ext cx="54864" cy="17830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4" y="4526280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707624" y="4526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8284464" y="5074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Resilience360</a:t>
            </a:r>
            <a:endParaRPr lang="en-US" sz="1700" dirty="0"/>
          </a:p>
        </p:txBody>
      </p:sp>
      <p:sp>
        <p:nvSpPr>
          <p:cNvPr id="40" name="Text 32"/>
          <p:cNvSpPr/>
          <p:nvPr/>
        </p:nvSpPr>
        <p:spPr>
          <a:xfrm>
            <a:off x="8284464" y="5532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tecnológico y resiliencia operacional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PORTAFOLIO · 6 SERVICIOS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SHELLTI 5D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framework, cinco movimientos.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Aplicable a todos los servicios — adaptado al dominio de cada uno.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1945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377440"/>
            <a:ext cx="54864" cy="36576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651760"/>
            <a:ext cx="640080" cy="64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el negocio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ejecutivas, mapa de procesos críticos, inventario de activos, drivers de negocio y prioridades.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rot="5400000">
            <a:off x="2670048" y="3794760"/>
            <a:ext cx="73152" cy="146304"/>
          </a:xfrm>
          <a:prstGeom prst="rtTriangl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0632" y="2377440"/>
            <a:ext cx="21945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70632" y="2377440"/>
            <a:ext cx="54864" cy="36576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47872" y="2651760"/>
            <a:ext cx="640080" cy="64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907792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07792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madurez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53512" y="42976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técnico, regulatorio y operacional. Gap analysis contra marcos (NIST, ISO, CIS, Ley 21.719).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rot="5400000">
            <a:off x="4983480" y="3794760"/>
            <a:ext cx="73152" cy="146304"/>
          </a:xfrm>
          <a:prstGeom prst="rtTriangl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4064" y="2377440"/>
            <a:ext cx="21945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84064" y="2377440"/>
            <a:ext cx="54864" cy="36576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61304" y="2651760"/>
            <a:ext cx="640080" cy="64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61304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221224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21224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roadmap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66944" y="42976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por impacto y esfuerzo. Quick wins, mediano y largo plazo. Modelo objetivo y plan de inversión.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 rot="5400000">
            <a:off x="7296912" y="3794760"/>
            <a:ext cx="73152" cy="146304"/>
          </a:xfrm>
          <a:prstGeom prst="rtTriangl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97496" y="2377440"/>
            <a:ext cx="21945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97496" y="2377440"/>
            <a:ext cx="54864" cy="36576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74736" y="2651760"/>
            <a:ext cx="640080" cy="64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74736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534656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34656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con foco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80376" y="42976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por olas. Cambios técnicos, controles, automatizaciones y políticas con responsables claros.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 rot="5400000">
            <a:off x="9610344" y="3794760"/>
            <a:ext cx="73152" cy="146304"/>
          </a:xfrm>
          <a:prstGeom prst="rtTriangl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10928" y="2377440"/>
            <a:ext cx="21945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710928" y="2377440"/>
            <a:ext cx="54864" cy="36576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88168" y="2651760"/>
            <a:ext cx="640080" cy="64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88168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848088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848088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Gobernar y evolucionar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893808" y="42976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ejecutivos, indicadores, revisiones recurrentes. Mejora continua y maduración progresiva.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aplica esta lógica con su propio sub-método especializado.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SHELLTI 5D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ENGAGEMENT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formas de trabajar con ShellTI.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un sprint inicial hasta un advisory permanente — escalable según madurez y presupuesto.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7432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840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68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17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ASSESSMENT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456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4 semanas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37307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cerrado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4114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ejecutivo con hallazgos priorizados, quick wins identificados y plan de acción de 90 días.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5349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empresas que necesitan claridad antes de invertir.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19272" y="2286000"/>
            <a:ext cx="27432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19272" y="2286000"/>
            <a:ext cx="54864" cy="3840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24688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93592" y="3017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CERRADO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93592" y="3456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16 semanas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93592" y="37307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+ hitos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593592" y="4114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un alcance definido — assessment regulatorio, diseño de arquitectura, despliegue de automatización.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593592" y="5349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un problema concreto que resolver de extremo a extremo.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81344" y="2286000"/>
            <a:ext cx="27432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81344" y="2286000"/>
            <a:ext cx="54864" cy="3840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46888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55664" y="3017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MENSUAL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55664" y="3456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 · 6 – 24 meses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455664" y="37307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455664" y="4114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vCISO, vCTO o advisory de gobierno tech con horas mensuales, comités recurrentes y respuesta ante incidentes.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455664" y="5349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que necesitan un rol senior sin contratar un C-level full-time.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9043416" y="2286000"/>
            <a:ext cx="27432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043416" y="2286000"/>
            <a:ext cx="54864" cy="3840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2468880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317736" y="3017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9317736" y="3456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 · 12 + meses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9317736" y="37307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mensual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9317736" y="4114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continua de controles, automatizaciones, monitoreo de cumplimiento e indicadores ejecutivos.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9317736" y="5349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capacidad operativa interna es insuficiente.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ENGAGEMENT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502920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DATASHIELD 21.719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29260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Cumplir la nueva ley chilena de datos personales sin paralizar el negocio.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0" y="42976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Ley 21.719 y Protección de Datos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5852160"/>
            <a:ext cx="73152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1463040" cy="1463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DATASHIELD 21.719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01 · DATASHIELD 21.719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resolvemos.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Cumplir la nueva ley chilena de datos personales sin paralizar el negocio.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4864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840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ESTRATÉGICA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 21.719 introduce el marco más estricto de protección de datos en la historia de Chile. La mayoría de las empresas medianas tiene datos personales dispersos en SaaS, planillas y casillas — sin inventario, sin base legal documentada, sin proceso para derechos ARCOPOL. La multa máxima alcanza 20.000 UTM por infracción.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NEGOCIO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auditable, evita multas y habilita ventas B2B donde se exige due diligence. Convierte un riesgo regulatorio en un diferenciador comercial.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2286000"/>
            <a:ext cx="5532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72200" y="2286000"/>
            <a:ext cx="54864" cy="182880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DOLORES DEL CLIENTE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274320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sé qué datos personales tenemos ni dónde están.”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“RR.HH., marketing y ventas usan herramientas distintas sin control.”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tenemos cómo responder a un titular si pide acceso o borrado.”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“Nuestros proveedores tratan datos por nosotros sin contrato formal.”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4297680"/>
            <a:ext cx="5532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429768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QUE REDUCE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475488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Sanciones de hasta 20.000 UTM por infracciones graves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reputacional ante brechas o reclamos en redes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comercial — clientes corporativos exigen DPA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licitaciones por incumplimiento documentado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personal de directores y gerentes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DATASHIELD 21.719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01 · DATASHIELD 21.719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es este servicio.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cliente ideal, nivel de madurez y señales de que el momento es ahora.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0292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840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EMPRESA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con 50–500 empleados que tratan datos de clientes, empleados o pacientes — retail, salud, educación, finanzas, servicios profesionales, SaaS B2C.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TÍPICA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4892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a media. Sin DPO, sin inventario, sin políticas formalizadas.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0" y="2286000"/>
            <a:ext cx="59436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286000"/>
            <a:ext cx="54864" cy="384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QUE EL MOMENTO ES AHORA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288036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92240" y="28803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Recibieron consulta o reclamo de un titular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347472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92240" y="34747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corporativo exige firma de DPA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35040" y="406908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92240" y="4069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externa o licitación con requisitos de privacidad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35040" y="466344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350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92240" y="4663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o incidente reciente con datos personales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035040" y="525780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92240" y="5257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de nuevo SaaS sin evaluación de privacidad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DATASHIELD 21.719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01 · DATASHIELD 21.719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ejecutamos.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ShellTI 5D adaptado a este servicio — cinco fases, entregables por fase.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17320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a líderes de negocio y procesos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preliminar de flujos de datos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sistemas y proveedores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tratamientos críticos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70632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70632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3592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07792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30752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53512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contra Ley 21.719 y RGPD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bases de licitud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contratos con encargados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madurez en privacidad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84064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84064" y="2286000"/>
            <a:ext cx="54864" cy="3931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7024" y="2514600"/>
            <a:ext cx="548640" cy="5486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07024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21224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44184" y="3520440"/>
            <a:ext cx="274320" cy="182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66944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remediación priorizado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gobierno y rol DPO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y procedimientos clave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respuesta a derechos ARCOPOL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97496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97496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0456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0456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534656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57616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0376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registro RAT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 portal de derechos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 equipos y áreas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DPAs con encargados críticos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10928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710928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33888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3388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848088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671048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93808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ejecutivo de cumplimiento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periódica del RAT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continua de titulares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internas y simulacros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DATASHIELD 21.719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01 · DATASHIELD 21.719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y entregables.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actividades centrales y diez entregables tangibles por engagement.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5778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4114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688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Entrevistas a líderes de RR.HH., comercial, IT, legal y operaciones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Workshops de mapeo de flujos de datos por proceso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Inventario técnico de fuentes, bases y SaaS con datos personales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Revisión de contratos con encargados de tratamiento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Análisis de bases de licitud para cada tratamiento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Evaluación de impacto en tratamientos sensibles (EIPD)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Diseño del Registro de Actividades de Tratamiento (RAT)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Definición del modelo operativo de DPO interno o externo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Diseño de procesos para ejercicio de derechos ARCOPOL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Capacitación ejecutiva y por áreas funcionales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286000"/>
            <a:ext cx="55321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286000"/>
            <a:ext cx="54864" cy="4114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688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TANGIBLES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92240" y="297180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flujos de datos personales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sistemas y proveedores tratantes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 — Registro de Actividades de Tratamiento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riesgos de privacidad priorizada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contra Ley 21.719 con score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remediación 90 / 180 / 365 días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 políticas y procedimientos clave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DPO y estructura de gobierno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de DPA y cláusulas tipo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ejecutivo de cumplimiento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DATASHIELD 21.719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01 · DATASHIELD 21.719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ShellTI — y cómo se compra.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Diferenciadores frente a otros actores y modelos comerciales disponibles.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Mirada ejecutiva, no solo legal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estudios jurídicos, traducimos la ley a controles técnicos, procesos y herramientas — no solo a opiniones legales.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9272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47872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pyme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47872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Entregamos un assessment ejecutivo en 4–6 semanas, no 4–6 meses como las Big 4. Pensado para empresas que necesitan actuar.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9944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primero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9944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Detenemos sangrados regulatorios en las primeras 4 semanas: contratos críticos, cookies, formularios de captura.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43416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43416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2016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72016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operacional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72016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Ofrecemos DPO externo y operación continua del cumplimiento — no entregamos un PDF y desaparecemos.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COMERCIALES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617720"/>
            <a:ext cx="54864" cy="16916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DataShield Snapshot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semanas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cerrado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ejecutivo de cumplimiento con hallazgos top, mapa de riesgos y plan 90 días.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9272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19272" y="461772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DataShield Full Assessment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47872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semanas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47872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por hitos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47872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completo, RAT, políticas, roadmap, capacitación y kick-off de remediación.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81344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81344" y="4617720"/>
            <a:ext cx="54864" cy="16916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9944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DataShield Remediation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9944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meses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9944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cerrado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9944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del roadmap: políticas, controles técnicos, DPAs, procesos de derechos.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043416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043416" y="4617720"/>
            <a:ext cx="54864" cy="16916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72016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as a Service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72016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272016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mensual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272016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externo, atención de titulares, revisión continua, comité de privacidad mensual.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DATASHIELD 21.719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01 · DATASHIELD 21.719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wins, tecnología y evolución.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tempranos, stack que usamos y modelo de madurez de tres niveles.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5778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31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· PRIMEROS 30 DÍAS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y avisos de privacidad en sitio web — 1 semana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DPAs con top 10 proveedores críticos — 2–3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inicial de sistemas con datos personales — 2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atención a titulares operativo — 3 semanas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194560"/>
            <a:ext cx="5532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194560"/>
            <a:ext cx="54864" cy="19202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92240" y="28346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OneTrust  ·  Securiti.ai  ·  TrustArc  ·  BigID  ·  DataGrail  ·  Cookiebot  ·  Microsoft Purview  ·  Power BI / Looker (dashboards)  ·  Jira / Asana  ·  Notion / Confluence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MADUREZ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4663440"/>
            <a:ext cx="54864" cy="164592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4800600"/>
            <a:ext cx="411480" cy="4114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234440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85800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inicial, políticas mínimas, DPAs con proveedores críticos, canal de derechos operativo.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233672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233672" y="4663440"/>
            <a:ext cx="54864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462272" y="48006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462272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5010912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462272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 vigente, DPO designado, EIPD en tratamientos sensibles, capacitación regular, métricas mensuales.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010144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010144" y="4663440"/>
            <a:ext cx="54864" cy="1645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38744" y="480060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38744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8787384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238744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 en proyectos, automatización del ciclo de vida del dato, auditorías independientes, certificación.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DATASHIELD 21.719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502920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SHELLGUARD ADVISORY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29260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senior que necesitas, sin el costo de un C-level full-time.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0" y="42976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vCISO y Advisory Tecnológico Ejecutivo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5852160"/>
            <a:ext cx="73152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1463040" cy="1463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SHELLGUARD ADVISORY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02 · SHELLGUARD ADVISORY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resolvemos.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senior que necesitas, sin el costo de un C-level full-time.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4864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840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ESTRATÉGICA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empresas de 50–500 empleados enfrentan decisiones tecnológicas y de seguridad cada semana — incidentes, auditorías, nuevos SaaS, exigencias de clientes — sin un perfil senior que las acompañe. Contratar un CISO o CTO interno cuesta sobre USD 150k al año y rara vez se justifica.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NEGOCIO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expertise senior fraccional con visión de negocio. Decisiones más rápidas y mejor calibradas, reportería ejecutiva, gobierno de riesgos tecnológicos y representación creíble ante auditores, clientes y directorio.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2286000"/>
            <a:ext cx="5532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72200" y="2286000"/>
            <a:ext cx="54864" cy="182880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DOLORES DEL CLIENTE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274320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“Necesitamos un CISO pero no podemos pagar uno full-time.”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“Cuando hay un incidente, no sabemos a quién llamar primero.”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directorio nos pide reportes de ciber y no tenemos qué mostrar.”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“Clientes corporativos nos auditan y nos pillan sin gobierno.”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4297680"/>
            <a:ext cx="5532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429768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QUE REDUCE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475488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tácticas sin visión estratégica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ante auditorías de clientes y aseguradoras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manejados de forma reactiva y caótica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en herramientas que no resuelven lo crítico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credibilidad ante el directorio y socios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SHELLGUARD ADVISORY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02 · SHELLGUARD ADVISORY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es este servicio.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cliente ideal, nivel de madurez y señales de que el momento es ahora.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0292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840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EMPRESA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medianas en crecimiento, fintech early-stage, SaaS B2B, retailers digitales, healthcare — sin CISO formal pero con exposición tecnológica significativa.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TÍPICA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4892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a media. Tienen IT operativo pero no estrategia, riesgo ni gobierno formal.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0" y="2286000"/>
            <a:ext cx="59436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286000"/>
            <a:ext cx="54864" cy="384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QUE EL MOMENTO ES AHORA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288036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92240" y="28803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corporativo pidió evidencia de gobierno de seguridad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347472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92240" y="34747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Aseguradora requiere certificaciones o controles para póliza cyber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35040" y="406908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92240" y="4069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reciente expuso la falta de procesos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35040" y="466344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350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92240" y="4663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o board incorporó riesgo tech a la agenda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035040" y="525780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92240" y="5257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de inversión exige due diligence técnico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SHELLGUARD ADVISORY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02 · SHELLGUARD ADVISORY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ejecutamos.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ShellTI 5D adaptado a este servicio — cinco fases, entregables por fase.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17320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con CEO, CFO, CTO, gerencias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procesos y activos críticos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obligaciones y compromisos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stakeholders externos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70632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70632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3592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07792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30752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53512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empresarial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contra NIST CSF, CIS, ISO 27001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incidentes y casi-incidentes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madurez por dominio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84064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84064" y="2286000"/>
            <a:ext cx="54864" cy="3931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7024" y="2514600"/>
            <a:ext cx="548640" cy="5486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07024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21224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44184" y="3520440"/>
            <a:ext cx="274320" cy="182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66944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seguridad alineada al negocio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12–24 meses con presupuesto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gobierno y comités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y métricas ejecutivas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97496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97496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0456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0456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534656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57616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0376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controles prioritarios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 políticas y procesos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con proveedores e integradores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auditorías y certificaciones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10928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710928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33888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3388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848088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671048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93808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Comités mensuales de seguridad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Reportería al directorio trimestral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incidentes y crisis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continua de la estrategia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SHELLGUARD ADVISORY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02 · SHELLGUARD ADVISORY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y entregables.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actividades centrales y diez entregables tangibles por engagement.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5778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4114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688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Entrevistas estratégicas con C-level y gerencias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Risk assessment empresarial top-down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Gap analysis contra NIST CSF, CIS Controls, ISO 27001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Diseño de estrategia y roadmap de seguridad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Definición de presupuesto y plan de inversión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Implementación de gobierno: comités, políticas, roles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Reportería ejecutiva y al directorio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Gestión de relaciones con auditores, clientes y aseguradoras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Liderazgo de respuesta a incidentes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Acompañamiento en certificaciones (ISO 27001, SOC 2)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286000"/>
            <a:ext cx="55321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286000"/>
            <a:ext cx="54864" cy="4114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688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TANGIBLES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92240" y="297180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seguridad y tech 12–24 meses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empresarial vigente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priorizado con presupuesto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 políticas core (acceso, datos, terceros, IR)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gobierno y carta de comités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y dashboard ejecutivo de seguridad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respuesta a incidentes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mensuales y trimestrales al 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de evidencia para auditorías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certificación (ISO 27001, SOC 2 si aplica)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SHELLGUARD ADVISORY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02 · SHELLGUARD ADVISORY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ShellTI — y cómo se compra.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Diferenciadores frente a otros actores y modelos comerciales disponibles.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vCISO con experiencia ejecutiva real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consultores junior. Perfiles que han sido CISO o gerentes de tecnología en empresas reales, con lenguaje de negocio.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9272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47872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flexible y escalable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47872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8 horas mensuales hasta presencia semanal. Crece con la empresa, no contrato rígido anual.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9944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integrado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9944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Combinamos vCISO + automatización + compliance + cloud. No fragmentas el problema en 4 proveedores.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43416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43416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2016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72016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al directorio, no en TI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72016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Trabajamos a nivel comité de auditoría y board, no perdidos en el equipo técnico.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COMERCIALES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617720"/>
            <a:ext cx="54864" cy="16916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Sprint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semanas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cerrado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assessment, gap analysis, estrategia y roadmap 12 meses. Entrega ejecutiva al directorio.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9272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19272" y="461772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vCISO Light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47872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47872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· 16h/mes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47872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mensual, comités, revisión de incidentes, reportería trimestral al board.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81344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81344" y="4617720"/>
            <a:ext cx="54864" cy="16916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9944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vCISO Core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9944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9944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· 40h/mes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9944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ejecutiva, gobierno operativo, gestión de auditorías, soporte continuo a equipos.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043416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043416" y="4617720"/>
            <a:ext cx="54864" cy="16916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72016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vCISO Lead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72016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272016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· 80h/mes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272016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cuasi full-time fraccional. Liderazgo total de seguridad y tech para empresas en escalamiento.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SHELLGUARD ADVISORY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02 · SHELLGUARD ADVISORY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wins, tecnología y evolución.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tempranos, stack que usamos y modelo de madurez de tres niveles.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5778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31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· PRIMEROS 30 DÍAS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inicial top 10 — 2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acceso y MFA generalizado — 3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respuesta a incidentes básico — 4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ejecutivo listo para directorio — 4 semanas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194560"/>
            <a:ext cx="5532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194560"/>
            <a:ext cx="54864" cy="19202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92240" y="28346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Defender / Sentinel  ·  CrowdStrike  ·  Wiz / Lacework  ·  Vanta / Drata / Secureframe  ·  1Password / Bitwarden  ·  Okta / Entra ID  ·  KnowBe4  ·  Cloudflare  ·  Jira  ·  Notion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MADUREZ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4663440"/>
            <a:ext cx="54864" cy="164592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4800600"/>
            <a:ext cx="411480" cy="4114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234440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85800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Inventario, políticas core, MFA, EDR, backups verificados, plan de IR. Comité trimestral activo.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233672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233672" y="4663440"/>
            <a:ext cx="54864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462272" y="48006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462272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5010912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462272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formalizado, métricas mensuales, SOC tercerizado, training continuo, due diligence de terceros.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010144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010144" y="4663440"/>
            <a:ext cx="54864" cy="1645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38744" y="480060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38744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8787384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238744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ISO 27001 / SOC 2, threat intel, red team, métricas vinculadas a OKRs corporativos.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SHELLGUARD ADVISORY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502920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29260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la IA en la empresa con velocidad y sin filtraciones.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0" y="42976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y uso seguro de IA generativa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5852160"/>
            <a:ext cx="73152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1463040" cy="1463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AI TRUST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03 · AI TRUST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resolvemos.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la IA en la empresa con velocidad y sin filtraciones.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4864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840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ESTRATÉGICA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 marketing, ventas, IT, RR.HH. y operaciones usan ChatGPT, Copilot, Claude y otras IA con cuentas personales — pegando contratos, datos de clientes, código y planillas financieras. Mientras tanto, la dirección no tiene visibilidad, control ni reglas sobre qué datos salen, qué decisiones automatiza la IA, ni qué riesgos legales asume.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NEGOCIO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el uso productivo de IA con guardarraíles claros. Acelera adopción en lugar de frenarla. Protege la información sensible, define qué se puede y qué no, y construye un marco que escala con la organización.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2286000"/>
            <a:ext cx="5532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72200" y="2286000"/>
            <a:ext cx="54864" cy="182880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DOLORES DEL CLIENTE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274320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sé qué datos están saliendo por ChatGPT en mi empresa.”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“Quiero usar IA en serio pero legal me bloqueó todo.”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“Necesito una política de IA pero no sé por dónde partir.”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“Construimos un agente y nadie sabe qué hace exactamente.”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4297680"/>
            <a:ext cx="5532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429768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QUE REDUCE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475488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Filtración de datos confidenciales y personales a modelos públicos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automatizadas sin supervisión ni explicabilidad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Violación de Ley 21.719 por tratamientos no autorizados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Sesgos no detectados en procesos de RR.HH., crédito o servicio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técnica y comercial de proveedores cerrados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AI TRUST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03 · AI TRUST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es este servicio.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cliente ideal, nivel de madurez y señales de que el momento es ahora.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0292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840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EMPRESA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que ya tienen adopción orgánica de IA generativa — equipos usando ChatGPT/Copilot — y necesitan formalizar gobierno antes de un incidente o auditoría.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TÍPICA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4892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Media. Conocen la IA, la usan, pero sin reglas ni estructura.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0" y="2286000"/>
            <a:ext cx="59436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286000"/>
            <a:ext cx="54864" cy="384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QUE EL MOMENTO ES AHORA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288036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92240" y="28803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detectados de información sensible pegada en IA pública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347472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92240" y="34747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o auditor preguntó por política de IA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35040" y="406908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92240" y="4069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directorio quiere posicionar a la empresa como AI-first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35040" y="466344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350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92240" y="4663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agente / asistente / RAG ya en desarrollo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035040" y="525780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92240" y="5257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Regulador o entidad gremial publicó guías de uso de IA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AI TRUST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03 · AI TRUST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ejecutamos.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ShellTI 5D adaptado a este servicio — cinco fases, entregables por fase.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931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514600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17320" y="3520440"/>
            <a:ext cx="274320" cy="182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usos actuales de IA (oficial y shadow)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a líderes de áreas que usan IA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datos que ingresan a IA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proveedores y modelos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70632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70632" y="2286000"/>
            <a:ext cx="54864" cy="3931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3592" y="2514600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07792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30752" y="3520440"/>
            <a:ext cx="274320" cy="182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53512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de IA contra NIST AI RMF y ISO 42001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impacto en datos personales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sesgos y decisiones automatizadas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actual de gobierno de 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84064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84064" y="2286000"/>
            <a:ext cx="54864" cy="3931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7024" y="251460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07024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21224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44184" y="3520440"/>
            <a:ext cx="274320" cy="182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66944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uso de IA por nivel de riesgo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gobierno y comité de IA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casos de uso autorizados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habilitación segura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97496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97496" y="2286000"/>
            <a:ext cx="54864" cy="3931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0456" y="2514600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0456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534656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57616" y="3520440"/>
            <a:ext cx="274320" cy="182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0376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 cuentas empresariales y guardrails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de usuarios y power users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DLP y monitoreo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 casos de uso priorizados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10928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710928" y="2286000"/>
            <a:ext cx="54864" cy="3931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33888" y="2514600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3388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848088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671048" y="3520440"/>
            <a:ext cx="274320" cy="182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93808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IA recurrente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continuo de uso y desviaciones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periódica de modelos y agentes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casos de uso y políticas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AI TRUST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03 · AI TRUST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y entregables.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actividades centrales y diez entregables tangibles por engagement.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5778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4114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688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Inventario de usos de IA — oficiales y shadow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Entrevistas a líderes funcionales sobre uso real de IA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Mapa de datos sensibles expuestos a IA pública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Risk assessment contra NIST AI RMF y ISO 42001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Diseño de política de IA por nivel de riesgo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Definición de catálogo de casos de uso autorizados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Implementación de cuentas empresariales (Copilot, ChatGPT, Claude)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Configuración de DLP y monitoreo de prompts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Capacitación general y por área funcional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Pilotaje de casos de uso seguros y medibles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286000"/>
            <a:ext cx="55321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286000"/>
            <a:ext cx="54864" cy="4114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688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TANGIBLES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92240" y="297180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IA en uso (oficial + shadow)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riesgos de IA priorizado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corporativa de uso de 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casos de uso autorizados por nivel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gobierno y carta del comité de 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adopción segura 12 meses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para desarrollo de agentes y RAG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capacitación por audiencia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uso, riesgo y valor de 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de evaluación de proveedores de IA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AI TRUST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03 · AI TRUST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ShellTI — y cómo se compra.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Diferenciadores frente a otros actores y modelos comerciales disponibles.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Habilita, no bloquea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consultoras tradicionales escriben políticas restrictivas, nosotros diseñamos marcos para que la IA se use más y mejor — con foco.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9272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2194560"/>
            <a:ext cx="54864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47872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regulatorio + técnico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47872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Conectamos Ley 21.719, NIST AI RMF y ISO 42001 con DLP, IAM y diseño de prompts. Pocos lo hacen en un solo equipo.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2194560"/>
            <a:ext cx="54864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9944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construyendo agentes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9944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Implementamos asistentes, RAG y automatización con IA en producción — no solo escribimos sobre gobierno.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43416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43416" y="2194560"/>
            <a:ext cx="54864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2016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72016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adopción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72016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completo en 6–8 semanas listo para lanzamiento, no proyectos de un año que llegan tarde al negocio.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COMERCIALES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617720"/>
            <a:ext cx="54864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 Snapshot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semanas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cerrado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IA en uso, top riesgos, política express, plan de 90 días para gobernar.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9272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19272" y="461772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 Framework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47872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semanas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47872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por hitos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47872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completo: política, catálogo, comité, controles técnicos, capacitación y casos piloto.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81344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81344" y="4617720"/>
            <a:ext cx="54864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9944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 Build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9944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10–16 semanas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9944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cerrado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9944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un agente o asistente corporativo con gobierno embebido desde el diseño.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043416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043416" y="4617720"/>
            <a:ext cx="54864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72016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 Ops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72016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272016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mensual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272016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IA, monitoreo continuo, evaluación de nuevos casos, evolución del catálogo.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AI TRUST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03 · AI TRUST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wins, tecnología y evolución.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tempranos, stack que usamos y modelo de madurez de tres niveles.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5778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31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· PRIMEROS 30 DÍAS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uso de IA versión 1 publicada — 2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 equipos críticos a Copilot/ChatGPT empresarial — 3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 pegado de datos sensibles vía DLP — 3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inicial de 10 casos de uso autorizados — 4 semanas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194560"/>
            <a:ext cx="5532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194560"/>
            <a:ext cx="54864" cy="1920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92240" y="28346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365  ·  ChatGPT Enterprise  ·  Claude for Work  ·  Google Gemini for Workspace  ·  Microsoft Purview DLP  ·  Lakera Guard  ·  Credal  ·  Harmonic Security  ·  LangChain / LlamaIndex (RAG)  ·  Azure AI Foundry / AWS Bedrock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MADUREZ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4663440"/>
            <a:ext cx="54864" cy="164592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4800600"/>
            <a:ext cx="411480" cy="4114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234440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85800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publicada, cuentas empresariales, DLP activo, capacitación inicial, catálogo de 5–10 casos autorizados.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233672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233672" y="4663440"/>
            <a:ext cx="54864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462272" y="48006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462272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5010912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462272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IA operativo, evaluación de proveedores formalizada, KPIs de adopción y riesgo, RAG corporativo en uso.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010144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010144" y="4663440"/>
            <a:ext cx="54864" cy="1645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38744" y="480060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38744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8787384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238744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42001 alineado, monitoreo de drift y sesgos, agentes en producción con observabilidad, IA como ventaja competitiva.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AI TRUST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502920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CLOUDSHIFT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29260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que escala con el negocio — no que se descontrola con la factura.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0" y="42976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modernización cloud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5852160"/>
            <a:ext cx="73152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1463040" cy="1463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CLOUDSHIFT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04 · CLOUDSHIFT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resolvemos.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que escala con el negocio — no que se descontrola con la factura.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4864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840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ESTRATÉGICA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empresas medianas adoptaron cloud a través de compras tácticas — un servidor aquí, un SaaS allá, un Kubernetes que nadie entiende. El resultado es deuda técnica, costos crecientes sin control, dependencias ocultas y arquitecturas que frenan el crecimiento en lugar de habilitarlo.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NEGOCIO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costos cloud entre 15% y 30%, acelera time-to-market, libera al negocio de dependencias técnicas y crea una base sólida para escalar. La infraestructura deja de ser un freno y se convierte en ventaja.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2286000"/>
            <a:ext cx="5532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72200" y="2286000"/>
            <a:ext cx="54864" cy="182880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DOLORES DEL CLIENTE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274320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 factura de AWS sube todos los meses y nadie sabe por qué.”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“Tenemos servidores que nadie sabe para qué están.”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“Cada nuevo proyecto demora semanas en infraestructura.”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“Estamos atados a un integrador que no podemos cambiar.”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4297680"/>
            <a:ext cx="5532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429768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QUE REDUCE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475488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Sobrecosto cloud entre 15% y 40% por arquitectura mal diseñada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Caídas y degradación por componentes sin redundancia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que bloquea decisiones estratégicas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 lento — semanas para levantar nuevos servicios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Brechas de seguridad por configuraciones por defecto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CLOUDSHIFT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04 · CLOUDSHIFT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es este servicio.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cliente ideal, nivel de madurez y señales de que el momento es ahora.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0292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840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EMPRESA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con presencia cloud creciente — AWS, Azure, GCP — pero sin arquitectura formal. Fintech, SaaS, retail digital, healthtech, edtech, empresas en migración o post-fusión.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TÍPICA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4892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Media. Ya usan cloud, pero sin landing zone, FinOps ni gobierno.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0" y="2286000"/>
            <a:ext cx="59436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286000"/>
            <a:ext cx="54864" cy="384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QUE EL MOMENTO ES AHORA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288036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92240" y="28803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cloud creciente sin correlación con el negocio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347472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92240" y="34747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de disponibilidad o performance frecuentes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35040" y="406908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92240" y="4069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seguridad encontró misconfiguraciones graves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35040" y="466344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350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92240" y="4663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expandirse a nuevas regiones o productos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035040" y="525780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92240" y="5257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pendiente desde data center on-premise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CLOUDSHIFT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04 · CLOUDSHIFT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ejecutamos.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ShellTI 5D adaptado a este servicio — cinco fases, entregables por fase.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17320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workloads y dependencias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costos y consumo por servicio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con equipos de desarrollo y operaciones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drivers de negocio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70632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70632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3592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07792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30752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53512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Review (AWS / Azure / GCP)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FinOps y waste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seguridad de configuración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de prácticas DevOps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84064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84064" y="2286000"/>
            <a:ext cx="54864" cy="3931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7024" y="2514600"/>
            <a:ext cx="548640" cy="5486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07024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21224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44184" y="3520440"/>
            <a:ext cx="274320" cy="182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66944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objetivo y landing zone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modernización por aplicación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multi-cuenta / suscripciones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gobierno y FinOps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97496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97496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0456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0456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534656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57616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0376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landing zone con IaC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o refactor por olas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CI/CD y observabilidad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costos y reserved instances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10928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710928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33888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3388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848088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671048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93808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FinOps y unit economics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arquitectónica recurrente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 y modernización progresiva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 equipos internos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CLOUDSHIFT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04 · CLOUDSHIFT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y entregables.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actividades centrales y diez entregables tangibles por engagement.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5778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4114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688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Inventario de workloads, cuentas y servicios cloud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Análisis detallado de facturación y FinOps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Well-Architected Review en los 5 pilares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Cloud Security Posture Assessment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Mapeo de aplicaciones y dependencias (CMDB)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Diseño de landing zone multi-cuenta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Migración o refactor de workloads críticos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Implementación de Infrastructure as Code (Terraform)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CI/CD pipelines y observabilidad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Optimización de costos: rightsizing, savings plans, autoscaling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286000"/>
            <a:ext cx="55321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286000"/>
            <a:ext cx="54864" cy="4114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688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TANGIBLES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92240" y="297180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cloud y mapa de aplicaciones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Well-Architected Review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FinOps con oportunidades cuantificadas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arquitectura objetivo (TOGAF-lite)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landing zone con IaC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modernización por aplicación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migración por olas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configurados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 costo, performance y disponibilidad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y estándares de arquitectura interna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CLOUDSHIFT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04 · CLOUDSHIFT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ShellTI — y cómo se compra.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Diferenciadores frente a otros actores y modelos comerciales disponibles.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+ negocio + seguridad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migramos, diseñamos pensando en escalabilidad, costos y compliance desde el día uno. Un integrador puro no hace esto.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9272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47872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como práctica, no add-on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47872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arquitectónica se evalúa por su impacto en costos. Mostramos el retorno antes de proponer el cambio.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9944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de hyperscaler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9944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somos partner exclusivo de un cloud. Recomendamos AWS, Azure o GCP según contexto, sin sesgos comerciales.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43416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43416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2016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72016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DevOps + IA aplicada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72016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Modernizamos integrando automatización e IA donde tiene sentido — no solo infraestructura clásica.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COMERCIALES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617720"/>
            <a:ext cx="54864" cy="16916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CloudShift Health Check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semanas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cerrado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Review, FinOps assessment, top riesgos de seguridad, roadmap 90 días.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9272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19272" y="461772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 Design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47872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semanas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47872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por hitos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47872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landing zone multi-cuenta con IaC, identidad y seguridad base.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81344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81344" y="4617720"/>
            <a:ext cx="54864" cy="16916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9944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Modernization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9944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meses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9944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por olas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9944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o refactor de workloads críticos, CI/CD, observabilidad, optimización de costos.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043416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043416" y="4617720"/>
            <a:ext cx="54864" cy="16916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72016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Ops &amp; FinOps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72016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272016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mensual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272016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continuo, revisiones de costos, mejora arquitectónica y advisory cloud.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CLOUDSHIFT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04 · CLOUDSHIFT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wins, tecnología y evolución.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tempranos, stack que usamos y modelo de madurez de tres niveles.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5778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31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· PRIMEROS 30 DÍAS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 y eliminación de recursos huérfanos — 2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y políticas de identidad básicas — 1 semana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y separación de costos por área — 2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y plan de DR mínimo viable — 4 semanas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194560"/>
            <a:ext cx="5532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194560"/>
            <a:ext cx="54864" cy="19202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92240" y="28346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Azure · Google Cloud  ·  Terraform · OpenTofu  ·  Pulumi  ·  Kubernetes · ECS · AKS · GKE  ·  ArgoCD · GitHub Actions · GitLab CI  ·  Datadog · Grafana · New Relic  ·  Wiz · Prisma Cloud · Defender for Cloud  ·  Vantage · CloudHealth · AWS Cost Explorer  ·  Cloudflare  ·  HashiCorp Vault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MADUREZ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4663440"/>
            <a:ext cx="54864" cy="164592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4800600"/>
            <a:ext cx="411480" cy="4114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234440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85800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 definida, IaC para nuevos workloads, tagging consistente, FinOps mensual, backups verificados.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233672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233672" y="4663440"/>
            <a:ext cx="54864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462272" y="48006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462272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5010912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462272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generalizado, observabilidad por servicio, security posture monitoreado, DR probado.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010144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010144" y="4663440"/>
            <a:ext cx="54864" cy="1645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38744" y="480060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38744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8787384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238744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Multi-región activa, autoscaling avanzado, unit economics por producto, plataforma interna self-service.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CLOUDSHIFT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502920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AUTOMATEOPS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29260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trabajo manual en 30–60% combinando RPA, workflow e IA generativa.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0" y="42976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e IA aplicada a procesos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5852160"/>
            <a:ext cx="73152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1463040" cy="1463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AUTOMATEOPS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05 · AUTOMATEOPS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resolvemos.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trabajo manual en 30–60% combinando RPA, workflow e IA generativa.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4864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840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ESTRATÉGICA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críticos del negocio siguen ejecutándose en Excel, correos y reenvíos manuales. Onboarding de clientes, conciliaciones, facturación, atención de tickets, reportería — horas humanas en tareas repetitivas que erosionan margen, generan errores y bloquean el crecimiento.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NEGOCIO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costo operativo entre 30% y 60% en los procesos automatizados. Libera capacidad humana para tareas de valor, mejora SLAs, reduce errores y crea una base operativa que escala sin sumar headcount lineal.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2286000"/>
            <a:ext cx="5532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72200" y="2286000"/>
            <a:ext cx="54864" cy="182880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DOLORES DEL CLIENTE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274320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“Tres personas pasan medio día consolidando reportes manualmente.”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onboarding de un cliente nos toma 3 semanas.”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“Cada cierre de mes es un infierno de planillas.”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“Los tickets se demoran porque nadie sabe a quién derivarlos.”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4297680"/>
            <a:ext cx="5532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429768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QUE REDUCE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475488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Erosión de margen por costo operativo creciente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manuales con impacto financiero o regulatorio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y rotación de equipos en tareas repetitivas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Imposibilidad de escalar sin contratar proporcionalmente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competitividad ante actores digitales nativos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AUTOMATEOPS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05 · AUTOMATEOPS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es este servicio.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cliente ideal, nivel de madurez y señales de que el momento es ahora.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0292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840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EMPRESA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con procesos operativos repetitivos — back-office financiero, operaciones de SaaS, customer success, contact centers, áreas legales y de RR.HH. con volumen.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TÍPICA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4892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a media en automatización. Ofimática avanzada pero sin workflow ni RPA.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0" y="2286000"/>
            <a:ext cx="59436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286000"/>
            <a:ext cx="54864" cy="384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QUE EL MOMENTO ES AHORA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288036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92240" y="28803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operativos crecen más rápido que el negocio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347472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92240" y="34747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 incumplidos o quejas recurrentes de clientes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35040" y="406908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92240" y="4069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de cálculo críticas con dueños únicos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35040" y="466344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350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92240" y="4663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que escalaron y obligaron a controles manuales adicionales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035040" y="525780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92240" y="5257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 transformación digital sin foco claro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AUTOMATEOPS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05 · AUTOMATEOPS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ejecutamos.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ShellTI 5D adaptado a este servicio — cinco fases, entregables por fase.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931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514600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17320" y="3520440"/>
            <a:ext cx="274320" cy="182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procesos candidatos a automatizar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mining cuando hay datos disponibles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con líderes y operadores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Cuantificación de tiempos y volúmenes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70632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70632" y="2286000"/>
            <a:ext cx="54864" cy="3931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3592" y="2514600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07792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30752" y="3520440"/>
            <a:ext cx="274320" cy="182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53512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por impacto, esfuerzo y riesgo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readiness técnico y de datos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proveedores y plataformas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por iniciativa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84064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84064" y="2286000"/>
            <a:ext cx="54864" cy="3931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7024" y="251460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07024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21224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44184" y="3520440"/>
            <a:ext cx="274320" cy="182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66944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automatización por olas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automatización (orquestador, IA, integraciones)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operativo (CoE, RACI, gobierno)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change management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97496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97496" y="2286000"/>
            <a:ext cx="54864" cy="3931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0456" y="2514600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0456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534656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57616" y="3520440"/>
            <a:ext cx="274320" cy="182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0376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iterativo por proceso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hipercare y go-live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handover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 usuarios finales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10928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710928" y="2286000"/>
            <a:ext cx="54864" cy="3931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33888" y="2514600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3388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848088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671048" y="3520440"/>
            <a:ext cx="274320" cy="182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93808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automatizaciones y SLAs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automatizaciones vigentes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continuo de nuevos casos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de ROI realizado vs proyectado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AUTOMATEOPS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05 · AUTOMATEOPS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y entregables.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actividades centrales y diez entregables tangibles por engagement.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5778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4114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688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Process discovery y mapeo as-is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Process mining (Celonis, UiPath Process Mining) si aplica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Workshops de identificación de candidatos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Priorización por matriz impacto / esfuerzo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Business case y proyección de ROI por iniciativa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Diseño de arquitectura de automatización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Desarrollo de bots RPA, flujos low-code y agentes IA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Integración con ERPs, CRMs y SaaS críticos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Testing, UAT, go-live e hipercare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Implementación de Centro de Excelencia (CoE)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286000"/>
            <a:ext cx="55321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286000"/>
            <a:ext cx="54864" cy="4114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688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TANGIBLES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92240" y="297180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procesos candidatos priorizado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con ROI por iniciativa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automatización objetivo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automatización por olas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Bots, flujos y agentes en producción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y de operación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operativo del CoE de automatización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automatizaciones vivas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uso, ahorro y SLA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change management y comunicación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AUTOMATEOPS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05 · AUTOMATEOPS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ShellTI — y cómo se compra.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Diferenciadores frente a otros actores y modelos comerciales disponibles.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+ low-code + IA en una sola visión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somos casa exclusiva de UiPath ni de Power Automate. Combinamos lo mejor de cada categoría según el caso.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9272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2194560"/>
            <a:ext cx="54864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47872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ROI medible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47872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tiene business case antes de partir y medición real post go-live. Sin proyectos de automatización fantasma.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2194560"/>
            <a:ext cx="54864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9944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de verdad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9944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Integramos LLMs para clasificación, extracción y reasoning donde RPA tradicional no puede llegar.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43416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43416" y="2194560"/>
            <a:ext cx="54864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2016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72016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CoE, no dependencia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72016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Transferimos capacidad al equipo interno con CoE formal y stack documentado.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COMERCIALES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617720"/>
            <a:ext cx="54864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Discovery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semanas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cerrado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procesos, identificación de candidatos, business case top 5 y roadmap 6 meses.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9272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19272" y="461772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Automation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47872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semanas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47872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por bot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47872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1–3 automatizaciones críticas end-to-end con hipercare.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81344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81344" y="4617720"/>
            <a:ext cx="54864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9944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Program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9944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meses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9944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olas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9944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con CoE, pipeline continuo, gobierno y entrega iterativa de automatizaciones.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043416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043416" y="4617720"/>
            <a:ext cx="54864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72016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as a Service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72016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272016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mensual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272016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y mantenimiento de bots, expansión continua del catálogo y mejora de SLAs.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AUTOMATEOPS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05 · AUTOMATEOPS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wins, tecnología y evolución.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tempranos, stack que usamos y modelo de madurez de tres niveles.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5778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31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· PRIMEROS 30 DÍAS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reportería ejecutiva semanal — 3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 conciliación contable básica — 4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automático de tickets con IA — 4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automatizada de contratos / documentos — 3 semanas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194560"/>
            <a:ext cx="5532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194560"/>
            <a:ext cx="54864" cy="1920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92240" y="28346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· Automation Anywhere · Blue Prism  ·  Microsoft Power Automate  ·  n8n · Make · Zapier  ·  Workato · Tray.io  ·  Celonis (process mining)  ·  OpenAI · Anthropic Claude · Azure OpenAI  ·  LangChain · LlamaIndex  ·  Camunda (BPMN)  ·  Airbyte · Fivetran (integración de datos)  ·  Postman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MADUREZ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4663440"/>
            <a:ext cx="54864" cy="164592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4800600"/>
            <a:ext cx="411480" cy="4114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234440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85800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automatizaciones en producción, ROI medido, equipo capacitado, gobierno mínimo definido.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233672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233672" y="4663440"/>
            <a:ext cx="54864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462272" y="48006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462272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5010912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462272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operativo, pipeline continuo, IA generativa integrada, dashboard de ahorro corporativo.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010144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010144" y="4663440"/>
            <a:ext cx="54864" cy="1645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38744" y="480060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38744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8787384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238744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Hyperautomation extendida, agentes autónomos, decisiones automatizadas auditables, métricas atadas a OKRs.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AUTOMATEOPS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502920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RESILIENCE360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29260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Sostener la operación cuando algo falla — porque algo siempre falla.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0" y="42976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tecnológico y resiliencia operacional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5852160"/>
            <a:ext cx="73152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1463040" cy="1463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RESILIENCE360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06 · RESILIENCE360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resolvemos.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Sostener la operación cuando algo falla — porque algo siempre falla.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4864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840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ESTRATÉGICA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de una empresa mediana depende de proveedores SaaS, integraciones con APIs, personas clave y procesos manuales no documentados. Cualquier evento — caída de un proveedor, error humano, ataque, cambio regulatorio, salida de un líder — puede paralizar la operación durante días. La resiliencia no está diseñada, simplemente se asume.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NEGOCIO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continuidad operacional con SLAs definidos, reduce el impacto de incidentes, supera auditorías y certificaciones con menor fricción y transforma el gobierno tecnológico de un check-the-box en una práctica que protege ingresos.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2286000"/>
            <a:ext cx="5532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72200" y="2286000"/>
            <a:ext cx="54864" cy="182880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DOLORES DEL CLIENTE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274320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 Juan se va de vacaciones, el cierre contable se cae.”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“Cuando un SaaS crítico cayó, no teníamos plan B.”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sé qué hacer si nos hackean mañana.”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“Cada auditoría descubre los mismos problemas año tras año.”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4297680"/>
            <a:ext cx="5532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429768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QUE REDUCE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475488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Indisponibilidad operacional por horas o días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financiera directa por procesos detenidos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Incumplimiento regulatorio y contractual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reputacional ante clientes y partners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bajo crisis sin información ni protocolo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RESILIENCE360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06 · RESILIENCE360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es este servicio.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cliente ideal, nivel de madurez y señales de que el momento es ahora.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0292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840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EMPRESA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con operación 24/7, regulación sectorial, o procesos críticos altamente dependientes de tecnología — fintech, salud, retail digital, logística, SaaS, manufactura digital.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TÍPICA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4892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Media. Tienen procesos pero sin formalización, métricas ni testeo de resiliencia.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0" y="2286000"/>
            <a:ext cx="59436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286000"/>
            <a:ext cx="54864" cy="384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QUE EL MOMENTO ES AHORA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288036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92240" y="28803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externa o certificación próxima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347472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92240" y="34747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reciente con impacto operativo o reputacional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35040" y="406908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92240" y="4069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que aumentó la complejidad del stack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35040" y="466344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350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92240" y="4663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crítica concentrada en pocos proveedores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035040" y="5257800"/>
            <a:ext cx="365760" cy="3657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92240" y="5257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o regulador exige reportes de continuidad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RESILIENCE360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06 · RESILIENCE360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ejecutamos.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ShellTI 5D adaptado a este servicio — cinco fases, entregables por fase.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17320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procesos críticos del negocio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servicios, proveedores y dependencias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con dueños de proceso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obligaciones regulatorias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70632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70632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3592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07792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30752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53512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 — Business Impact Analysis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contra ISO 22301 / NIST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capacidad de respuesta a incidentes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concentración de proveedores y personas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84064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84064" y="2286000"/>
            <a:ext cx="54864" cy="3931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7024" y="2514600"/>
            <a:ext cx="548640" cy="5486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07024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21224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44184" y="3520440"/>
            <a:ext cx="274320" cy="182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66944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y RPO objetivo por proceso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continuidad y DR por servicio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gobierno tech (comités, RACI, políticas)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y simulacros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97496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97496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0456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0456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534656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57616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0376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planes de continuidad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 controles de operación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formales con proveedores críticos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simulacros y tabletop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10928" y="228600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710928" y="2286000"/>
            <a:ext cx="54864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33888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3388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848088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671048" y="3520440"/>
            <a:ext cx="274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93808" y="365760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resiliencia ejecutivo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periódica de BIA y planes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recurrentes de DR y crisis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 basada en incidentes reales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RESILIENCE360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06 · RESILIENCE360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y entregables.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actividades centrales y diez entregables tangibles por engagement.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5778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4114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688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Mapa de procesos críticos del negocio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Business Impact Analysis (BIA) por proceso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Inventario de proveedores y análisis de criticidad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Gap analysis contra ISO 22301, NIST SP 800-34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Diseño de planes de continuidad (BCP) y DR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Definición de RTO, RPO y SLAs por servicio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Diseño del modelo de gobierno tech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Implementación de comités y reportería ejecutiva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Plan de pruebas: tabletop, simulacros, DR drills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Gestión de cambios y revisión de incidentes (post-mortems)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286000"/>
            <a:ext cx="55321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286000"/>
            <a:ext cx="54864" cy="4114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688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TANGIBLES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92240" y="297180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procesos críticos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 con RTO y RPO por proceso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operacional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continuidad y DR por servicio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gobierno tech con comités y RACI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 políticas (cambios, accesos, incidentes, terceros)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 resiliencia y dashboard ejecutivo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anual de pruebas y simulacros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de gestión de incidentes y crisis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auditoría interna y mejora continua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RESILIENCE360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06 · RESILIENCE360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ShellTI — y cómo se compra.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Diferenciadores frente a otros actores y modelos comerciales disponibles.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como capacidad de negocio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vendemos un plan en PDF. Diseñamos capacidad operacional que el negocio puede ejercer cuando algo falla.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9272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47872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seguridad y compliance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47872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Conectamos BCP, DR, ciberseguridad y cumplimiento. Una sola visión, no silos paralelos.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9944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procesos críticos, no en activos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9944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Priorizamos lo que el negocio no puede perder — no listas infinitas de servidores.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43416" y="219456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43416" y="2194560"/>
            <a:ext cx="54864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2016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72016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Simulacros que enseñan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72016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Ejecutamos tabletop y DR drills con escenarios reales del cliente, no plantillas genéricas.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COMERCIALES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617720"/>
            <a:ext cx="54864" cy="16916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Snapshot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semanas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cerrado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 express, gap analysis, top riesgos, plan de continuidad mínimo viable.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9272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19272" y="461772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Program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47872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10–16 semanas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47872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por hitos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47872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completo: BIA, BCP/DR, políticas, comités, KPIs y primer simulacro.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81344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81344" y="4617720"/>
            <a:ext cx="54864" cy="16916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9944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22301 / 27001 Ready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9944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meses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9944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cerrado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9944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end-to-end hasta certificación, con auditoría pre-cert.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043416" y="4617720"/>
            <a:ext cx="26791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043416" y="4617720"/>
            <a:ext cx="54864" cy="16916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72016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Ops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72016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272016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mensual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272016" y="5650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operativo: comités, revisiones, simulacros, gestión continua del riesgo.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RESILIENCE360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06 · RESILIENCE360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wins, tecnología y evolución.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tempranos, stack que usamos y modelo de madurez de tres niveles.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5778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31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· PRIMEROS 30 DÍAS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top 10 procesos críticos con RTO/RPO — 3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respuesta a incidentes operativos — 4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tabletop ejecutivo realizado — 6 semanas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proveedores críticos con SLAs — 3 semanas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194560"/>
            <a:ext cx="5532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194560"/>
            <a:ext cx="54864" cy="19202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92240" y="28346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 · ServiceNow GRC  ·  OneTrust GRC  ·  AuditBoard  ·  PagerDuty · Opsgenie  ·  Statuspage · Better Uptime  ·  Veeam · Rubrik · Cohesity (backup/DR)  ·  Azure Site Recovery · AWS Elastic DR  ·  Power BI / Looker (dashboards GRC)  ·  Notion / Confluence  ·  Jira Service Management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MADUREZ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4663440"/>
            <a:ext cx="54864" cy="164592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4800600"/>
            <a:ext cx="411480" cy="4114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234440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85800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 y RTO/RPO definidos, plan de continuidad básico, comité activo, primer simulacro ejecutado.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233672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233672" y="4663440"/>
            <a:ext cx="54864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462272" y="48006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462272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5010912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462272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probado anualmente, gobierno formalizado, métricas mensuales, gestión de terceros madura.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010144" y="4663440"/>
            <a:ext cx="35935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010144" y="4663440"/>
            <a:ext cx="54864" cy="1645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38744" y="480060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38744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8787384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238744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ISO 22301 / 27001, simulacros multi-escenario, resiliencia incorporada al diseño de productos.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RESILIENCE360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INTEGRADA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seis servicios — un mismo cliente, un mismo método.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80760" y="3108960"/>
            <a:ext cx="0" cy="-923635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872654" y="3566160"/>
            <a:ext cx="1050051" cy="-461818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872654" y="4480560"/>
            <a:ext cx="1050051" cy="461818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080760" y="4937760"/>
            <a:ext cx="0" cy="923635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288866" y="4480560"/>
            <a:ext cx="-1050051" cy="461818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288866" y="3566160"/>
            <a:ext cx="-1050051" cy="-461818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166360" y="3108960"/>
            <a:ext cx="1828800" cy="1828800"/>
          </a:xfrm>
          <a:prstGeom prst="ellipse">
            <a:avLst/>
          </a:prstGeom>
          <a:solidFill>
            <a:srgbClr val="0F1729"/>
          </a:solidFill>
          <a:ln w="25400">
            <a:solidFill>
              <a:srgbClr val="2DD4BF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6636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6636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5D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único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444752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1444752"/>
            <a:ext cx="54864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71450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669280" y="15773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DataShield 21.719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0" y="18973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167313" y="2494026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167313" y="2494026"/>
            <a:ext cx="54864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193" y="2763774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807393" y="262661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ShellGuard Advisory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807393" y="294665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vCISO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167313" y="4592574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167313" y="4592574"/>
            <a:ext cx="54864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193" y="4862322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807393" y="472516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807393" y="504520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 IA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029200" y="5641848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029200" y="5641848"/>
            <a:ext cx="54864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5911596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669280" y="57744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Resilience360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669280" y="60944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2891087" y="4592574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2891087" y="4592574"/>
            <a:ext cx="54864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3967" y="4862322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531167" y="472516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AutomateOps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3531167" y="504520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2891087" y="2494026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2891087" y="2494026"/>
            <a:ext cx="54864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3967" y="2763774"/>
            <a:ext cx="365760" cy="36576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3531167" y="262661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CloudShift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3531167" y="294665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46" name="Text 38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INTEGRADA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ve trabajar con ShellTI — primera reunión a operación continua.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fases típicas. La mayoría de clientes recorre tres de ellas en 6 meses.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7432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86000"/>
            <a:ext cx="54864" cy="3931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5146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14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CONVERSACIÓN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580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exploratoria · 1 hora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" y="425196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Entendemos el contexto del negocio, los detonantes y el resultado deseado. Sin venta de herramientas. Salimos con un diagnóstico verbal y propuesta de siguiente paso.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319272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14" name="Shape 11"/>
          <p:cNvSpPr/>
          <p:nvPr/>
        </p:nvSpPr>
        <p:spPr>
          <a:xfrm>
            <a:off x="3319272" y="2286000"/>
            <a:ext cx="27432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19272" y="2286000"/>
            <a:ext cx="54864" cy="3931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25146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47872" y="2514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547872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INICIAL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3547872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6 semanas · Fee cerrado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547872" y="425196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Inmersión, mapeo y diagnóstico ejecutivo. Entrega de hallazgos, riesgos priorizados, quick wins identificados y roadmap de 90 días. Resultado claro antes de cualquier compromiso mayor.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1344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22" name="Shape 18"/>
          <p:cNvSpPr/>
          <p:nvPr/>
        </p:nvSpPr>
        <p:spPr>
          <a:xfrm>
            <a:off x="6181344" y="2286000"/>
            <a:ext cx="27432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81344" y="2286000"/>
            <a:ext cx="54864" cy="3931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744" y="251460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09944" y="2514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409944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DEL PLAN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409944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6 meses · Proyecto u olas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409944" y="425196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priorizada. Quick wins en las primeras 4 semanas, despliegues por olas, comités de seguimiento, KPIs visibles. Tu equipo aprende mientras avanzamos.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9043416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0" dirty="0"/>
          </a:p>
        </p:txBody>
      </p:sp>
      <p:sp>
        <p:nvSpPr>
          <p:cNvPr id="30" name="Shape 25"/>
          <p:cNvSpPr/>
          <p:nvPr/>
        </p:nvSpPr>
        <p:spPr>
          <a:xfrm>
            <a:off x="9043416" y="2286000"/>
            <a:ext cx="27432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043416" y="2286000"/>
            <a:ext cx="54864" cy="3931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0816" y="251460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72016" y="2514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9272016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Y EVOLUCIÓN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9272016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 · Retainer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9272016" y="425196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continuo: advisory, operación de controles, evolución del portafolio digital, gobierno de IA, gestión de cumplimiento. ShellTI se convierte en parte del equipo extendido.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RELACIÓN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de empezar con ShellTI.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Pensados para distintos momentos del cliente — diagnóstico, ejecución y operación continua.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657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514600"/>
            <a:ext cx="54864" cy="3474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ejecutivo de un dominio.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250 UF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6 semanas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4480560"/>
            <a:ext cx="3108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617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Inmersión de negocio y técnica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riesgos prioritarios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identificados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90 días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ejecutiva de cierre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5440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empresas que quieren claridad antes de invertir.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2011680"/>
            <a:ext cx="365760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CONTRATADO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51960" y="2377440"/>
            <a:ext cx="365760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2377440"/>
            <a:ext cx="54864" cy="3749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26280" y="3090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+ ejecución del plan crítico.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1.200 UF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2628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6 meses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26280" y="4343400"/>
            <a:ext cx="3108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4480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completo del dominio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en primeras 4 semanas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por olas con KPIs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Política, gobierno y métricas activos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al equipo interno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Reportería ejecutiva mensual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26280" y="5577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modo más rápido para pasar del problema al control.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467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46720" y="2514600"/>
            <a:ext cx="3657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0" y="2514600"/>
            <a:ext cx="54864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32104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y operación continua.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65 UF/mes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2104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 · 12+ meses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21040" y="4480560"/>
            <a:ext cx="3108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4617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vCISO / vCTO / DPO fraccional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Comités y gobierno operativo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 auditorías y clientes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 controles y KPIs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incidentes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continua del portafolio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21040" y="5440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escalar sin contratar C-level full-time.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RELACIÓN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concretas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empezar esta semana.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3657600" cy="2377440"/>
          </a:xfrm>
          <a:prstGeom prst="rect">
            <a:avLst/>
          </a:prstGeom>
          <a:solidFill>
            <a:srgbClr val="1B2440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657600"/>
            <a:ext cx="54864" cy="2377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38862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886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4343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express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48920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sesión de 90 minutos con un consultor senior. Salimos con un diagnóstico preliminar y dos servicios recomendados — sin costo.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51960" y="3657600"/>
            <a:ext cx="3657600" cy="2377440"/>
          </a:xfrm>
          <a:prstGeom prst="rect">
            <a:avLst/>
          </a:prstGeom>
          <a:solidFill>
            <a:srgbClr val="1B2440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51960" y="3657600"/>
            <a:ext cx="54864" cy="2377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38862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280" y="3886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26280" y="4343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ejecutivo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526280" y="48920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día con tu equipo directivo en una agenda diseñada: dolores, prioridades, quick wins y roadmap inicial. Producto entregable concreto.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46720" y="3657600"/>
            <a:ext cx="3657600" cy="2377440"/>
          </a:xfrm>
          <a:prstGeom prst="rect">
            <a:avLst/>
          </a:prstGeom>
          <a:solidFill>
            <a:srgbClr val="1B2440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0" y="3657600"/>
            <a:ext cx="54864" cy="2377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88620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3886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321040" y="4343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dedicado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321040" y="48920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de 3 semanas en el dominio prioritario. Hallazgos, mapa de riesgos, quick wins identificados y plan 90 días. Fee cerrado.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40080" y="6355080"/>
            <a:ext cx="45720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18872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· contacto@shellti.cl · www.shellti.cl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11247120" y="29260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124712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11612880" y="3154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Portafolio de Servicios — ShellTI</dc:title>
  <dc:subject>PptxGenJS Presentation</dc:subject>
  <dc:creator>ShellTI</dc:creator>
  <cp:lastModifiedBy>ShellTI</cp:lastModifiedBy>
  <cp:revision>1</cp:revision>
  <dcterms:created xsi:type="dcterms:W3CDTF">2026-05-12T13:39:46Z</dcterms:created>
  <dcterms:modified xsi:type="dcterms:W3CDTF">2026-05-12T13:39:46Z</dcterms:modified>
</cp:coreProperties>
</file>