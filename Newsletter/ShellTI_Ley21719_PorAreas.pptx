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57200"/>
            <a:ext cx="5486400" cy="5486400"/>
          </a:xfrm>
          <a:prstGeom prst="ellipse">
            <a:avLst/>
          </a:prstGeom>
          <a:solidFill>
            <a:srgbClr val="00B4A8">
              <a:alpha val="6000"/>
            </a:srgbClr>
          </a:solidFill>
          <a:ln w="12700">
            <a:solidFill>
              <a:srgbClr val="00B4A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B4D8">
              <a:alpha val="6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21.719 · PROTECCIÓN DE DATOS PERSONALES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afecta 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área de su organización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· Operaciones · Tecnología · Finanzas · Ventas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017520"/>
            <a:ext cx="1353312" cy="475488"/>
          </a:xfrm>
          <a:prstGeom prst="roundRect">
            <a:avLst>
              <a:gd name="adj" fmla="val 11538"/>
            </a:avLst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13432" y="3017520"/>
            <a:ext cx="1353312" cy="475488"/>
          </a:xfrm>
          <a:prstGeom prst="roundRect">
            <a:avLst>
              <a:gd name="adj" fmla="val 11538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3432" y="30175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9624" y="3017520"/>
            <a:ext cx="1353312" cy="475488"/>
          </a:xfrm>
          <a:prstGeom prst="roundRect">
            <a:avLst>
              <a:gd name="adj" fmla="val 11538"/>
            </a:avLst>
          </a:prstGeom>
          <a:solidFill>
            <a:srgbClr val="00B4A8">
              <a:alpha val="75000"/>
            </a:srgbClr>
          </a:solidFill>
          <a:ln w="12700">
            <a:solidFill>
              <a:srgbClr val="00B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9624" y="30175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85816" y="3017520"/>
            <a:ext cx="1353312" cy="475488"/>
          </a:xfrm>
          <a:prstGeom prst="roundRect">
            <a:avLst>
              <a:gd name="adj" fmla="val 11538"/>
            </a:avLst>
          </a:prstGeom>
          <a:solidFill>
            <a:srgbClr val="1D4ED8">
              <a:alpha val="7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85816" y="30175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22008" y="3017520"/>
            <a:ext cx="1353312" cy="475488"/>
          </a:xfrm>
          <a:prstGeom prst="roundRect">
            <a:avLst>
              <a:gd name="adj" fmla="val 11538"/>
            </a:avLst>
          </a:prstGeom>
          <a:solidFill>
            <a:srgbClr val="F43F5E">
              <a:alpha val="7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30175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673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 plena: 1 de diciembre de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882896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www.shellti.com  ·  contacto@shellti.com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ley afecta a todas las áreas — no solo a TI o Legal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1A0D2E"/>
          </a:solidFill>
          <a:ln w="12700">
            <a:solidFill>
              <a:srgbClr val="1A0D2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97280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RRHH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11556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empleados, candidatos, salud, biometría y control de acceso.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92224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901952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019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Operaciones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9202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Formularios, contratos con proveedores, procesos con datos de clientes.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96896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00201E"/>
          </a:solidFill>
          <a:ln w="12700">
            <a:solidFill>
              <a:srgbClr val="00201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706624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00B4A8">
              <a:alpha val="80000"/>
            </a:srgbClr>
          </a:solidFill>
          <a:ln w="12700">
            <a:solidFill>
              <a:srgbClr val="00B4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0662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Tecnología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272491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Sistemas, bases de datos, cloud, logs, cifrado y canal ARCOP.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01568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050E2A"/>
          </a:solidFill>
          <a:ln w="12700">
            <a:solidFill>
              <a:srgbClr val="050E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511296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5112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Finanzas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52958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financiero por multas, seguros, contratos y auditorías.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200812"/>
          </a:solidFill>
          <a:ln w="12700">
            <a:solidFill>
              <a:srgbClr val="20081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4315968"/>
            <a:ext cx="1188720" cy="475488"/>
          </a:xfrm>
          <a:prstGeom prst="roundRect">
            <a:avLst>
              <a:gd name="adj" fmla="val 9615"/>
            </a:avLst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3159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Ventas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433425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leads, consentimientos, campañas y datos de prospectos.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D2E"/>
          </a:solidFill>
          <a:ln w="12700">
            <a:solidFill>
              <a:srgbClr val="1A0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RRHH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RRHH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RRHH maneja los datos más sensibles de la organización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 qué preocuparse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CVs y fichas de candidatos acumulados sin plazo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Datos de salud y licencias médicas de empleados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Biometría: huella dactilar, reconocimiento facial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Antecedentes penales en procesos de selección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Contratos laborales sin cláusula de protección de datos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Evaluaciones de desempeño guardadas sin límite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Videos de vigilancia del lugar de trabajo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Cómo actuar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Definir plazo de retención por categoría de dato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Agregar cláusula de protección de datos en contratos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Informar al trabajador qué datos se recopilan y para qué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Obtener consentimiento explícito para biometría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Crear canal formal para solicitudes ARCOP de empleados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Documentar base legal para datos de salud (ley habilitante)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Capacitar al equipo de RRHH anualmente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Cómo mitigar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Eliminar CVs de candidatos rechazados tras 60 días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Separar base de datos de salud con acceso restringido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Evaluar si la biometría es realmente necesaria (proporcionalidad)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Revisar contratos vigentes y agregar addendum de datos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Establecer quién puede acceder a qué datos en el sistema de RRHH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Auditoría anual de datos de personas desvinculadas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D2E"/>
          </a:solidFill>
          <a:ln w="12700">
            <a:solidFill>
              <a:srgbClr val="1A0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RRHH · EJEMPLOS CONCRETOS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RRHH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Situaciones reales que generan infracción en RRHH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51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3444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candidatos "por si acaso"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guarda CVs de candidatos rechazados indefinidamente. Bajo la Ley 21.719, el candidato puede exigir la eliminación. Sin proceso de borrado: infracción grave.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051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500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salud sin base legal específica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435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diagnósticos o licencias médicas en el sistema de RRHH requiere base legal explícita. Tratarlos como "dato laboral normal" es infracción gravísima.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5351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044952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34440" y="30449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 sin consentimiento escrito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de asistencia por huella dactilar o facial requiere consentimiento explícito y por escrito de cada empleado. El reglamento interno no es suficiente.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3044952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15000" y="30449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de empleados sin informar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el email corporativo, las cámaras o la ubicación sin informarlo al trabajador y sin base legal documentada viola los principios de transparencia y finalidad.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OPERACIONES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Operaciones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Operaciones: donde los datos fluyen sin que nadie lo controle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 qué preocuparse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Formularios físicos y digitales sin aviso de privacidad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Proveedores de servicio que acceden a datos de clientes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Archivos físicos con datos personales sin control de acceso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Envío de datos por email sin cifrado (planillas con RUTs)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Procesos de onboarding sin declaración de tratamiento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Datos de clientes compartidos en WhatsApp o grupos externos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Contratos de proveedores sin cláusulas DPA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Cómo actuar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Auditar todos los formularios: físicos y digitales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Mapear qué proveedores tocan datos de clientes o empleados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Exigir contrato DPA a cada encargado externo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Establecer protocolo de envío seguro para archivos con datos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Definir quién puede acceder a archivos físicos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Eliminar el uso de WhatsApp para comunicar datos personales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Incluir aviso de privacidad en todos los puntos de captura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Cómo mitigar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Usar plataformas cifradas para intercambio de documentos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Centralizar el archivo físico con acceso por firma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Clasificar los datos por nivel de sensibilidad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Checklist de compliance en onboarding de nuevos proveedores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Reemplazar formularios en papel por digitales con consentimiento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Auditoría trimestral de flujos de datos por proceso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OPERACIONES · EJEMPLOS CONCRETOS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Operaciones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Situaciones reales que generan infracción en Operaciones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51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3444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sin contrato DPA que sufre una brecha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de logística accede a datos de clientes pero no tiene DPA firmado. Si hay una brecha, la empresa responsable es quien contrató — no el proveedor. La multa recae sobre usted.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051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500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con RUTs enviada por email sin cifrar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435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una planilla Excel con datos personales por email sin cifrado es una vulneración del principio de seguridad. Basta que sea interceptada una vez para que sea infracción grave.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5351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044952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34440" y="30449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sin aviso de privacidad ni consentimiento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nombre, email y teléfono de un cliente en un formulario físico o web sin informar la finalidad y sin consentimiento verificable es infracción directa desde diciembre 2026.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3044952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15000" y="30449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corporativo con datos de clientes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grupos de WhatsApp para compartir información de clientes (nombres, contactos, direcciones) carece de cifrado adecuado y de trazabilidad. Es un canal no habilitado formalmente.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1E"/>
          </a:solidFill>
          <a:ln w="12700">
            <a:solidFill>
              <a:srgbClr val="0020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TECNOLOGÍA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00B4A8">
              <a:alpha val="80000"/>
            </a:srgbClr>
          </a:solidFill>
          <a:ln w="12700">
            <a:solidFill>
              <a:srgbClr val="00B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Tecnología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Tecnología: los controles técnicos son requisito legal, no solo buena práctica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 qué preocuparse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Bases de datos sin cifrado en reposo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Sistemas sin autenticación multifactor (MFA)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Logs de acceso inexistentes o con retención menor a 5 años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Accesos de ex empleados no revocados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Datos en cloud sin verificar ubicación geográfica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Formularios web sin CAPTCHA ni validación de origen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APIs que exponen datos personales sin autenticación fuerte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Backups sin cifrar o sin plan de recuperación probado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Cómo actuar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Activar cifrado AES-256 en reposo en todas las DBs con datos personales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Implementar MFA en todos los sistemas críticos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Configurar logs de auditoría con retención mínima 5 años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Proceso formal de revocación de accesos al desvincularse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Verificar región de almacenamiento en AWS / GCP / Azure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Implementar hCaptcha en formularios de captura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Revisar y documentar todas las APIs con acceso a datos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Probar plan de recuperación ante desastres semestralmente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Cómo mitigar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Principio de mínimo privilegio: cada usuario solo accede a lo necesario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Revisión semestral de permisos y accesos activos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Canal ARCOP técnico con trazabilidad de solicitudes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Protocolo documentado de respuesta a brechas: 72 horas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Inventario de todos los sistemas con datos personales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DPIA/EIPD para nuevos sistemas de alto riesgo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Alineamiento con ISO 27001 y DS 662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1E"/>
          </a:solidFill>
          <a:ln w="12700">
            <a:solidFill>
              <a:srgbClr val="0020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TECNOLOGÍA · EJEMPLOS CONCRETOS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00B4A8">
              <a:alpha val="80000"/>
            </a:srgbClr>
          </a:solidFill>
          <a:ln w="12700">
            <a:solidFill>
              <a:srgbClr val="00B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Tecnología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Situaciones reales que generan infracción en Tecnología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51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3444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no notificada en 72 horas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acceso no autorizado a la base de datos de clientes ocurre un viernes. Sin protocolo documentado, el equipo pasa el fin de semana "evaluando". El lunes se superó el plazo legal. Doble infracción.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051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500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empleado con acceso activo que filtra datos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435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empleado de TI desvinculado 3 meses antes aún tenía credenciales activas en el CRM. Descargó la base de clientes. La empresa no tenía proceso de revocación automática de accesos.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5351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044952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34440" y="30449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cloud fuera de Chile sin contrato TIDP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CRM y el ERP corren en AWS us-east-1 (Virginia, EE.UU.). Cada consulta a esa base de datos es una Transferencia Internacional sin CCM firmada. Infracción grave desde diciembre 2026.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3044952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15000" y="30449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 que devuelve datos personales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API de consulta de pedidos devuelve nombre, email y RUT del cliente sin autenticación robusta. Un scraper puede extraer miles de registros. Sin log de acceso, la empresa no puede detectarlo.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E2A"/>
          </a:solidFill>
          <a:ln w="12700">
            <a:solidFill>
              <a:srgbClr val="050E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FINANZAS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Finanzas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Finanzas: el riesgo es financiero y de cumplimiento contractual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 qué preocuparse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Facturas y contratos con datos personales sin control de acceso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Proveedores SaaS de contabilidad procesando datos sin DPA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Datos de cuentas bancarias de empleados y clientes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Sin presupuesto asignado para el proyecto de adecuación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Multas no incluidas en la gestión de riesgos financieros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Contratos con clientes que no incluyen cláusulas de datos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Pérdida de licitaciones por falta de certificación de cumplimiento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Cómo actuar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Presupuestar el proyecto de adecuación como inversión de riesgo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Incluir escenarios de multa en el mapa de riesgos corporativo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Revisar contratos con proveedores de software contable y ERP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Exigir DPA a cada proveedor que procese datos financieros o personales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Evaluar contratación de seguro de responsabilidad por brechas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Incluir cumplimiento de Ley 21.719 en due diligence de proveedores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Mapear licitaciones que exijan cumplimiento normativo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Cómo mitigar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Calcular exposición máxima: 20.000 UTM o 4% ingresos anuales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Fondo de contingencia para respuesta a incidentes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Cláusulas de indemnización en contratos con proveedores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Auditoría de contratos vigentes con encargados externos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Revisión de contratos de seguro existentes (cobertura de datos)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Incluir KPI de cumplimiento en reportes a directorio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E2A"/>
          </a:solidFill>
          <a:ln w="12700">
            <a:solidFill>
              <a:srgbClr val="050E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FINANZAS · EJEMPLOS CONCRETOS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Finanzas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Situaciones reales que generan riesgo financiero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51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3444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que llega al comité ejecutivo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Ley 21.719 faculta a la APDP a publicar la sanción en el Registro Nacional por 5 años. Una multa de 10.000 UTM más la exposición pública puede afectar la capacidad de acceder a crédito y licitaciones.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051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500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contrato por incumplimiento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435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enterprise exige en su proceso de homologación acreditar cumplimiento de la Ley 21.719. La empresa no puede acreditarlo. Pierde el contrato. El costo supera ampliamente la inversión en cumplimiento.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5351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044952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34440" y="30449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 datos personales sin DPA con el proveedor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ERP en la nube procesa datos de empleados y clientes. Si ocurre una brecha en el proveedor y no hay DPA, la empresa responsable debe asumir la multa y las compensaciones a los afectados.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3044952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15000" y="30449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seguro de ciberseguridad ante una brecha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remediación técnica, honorarios legales, compensaciones a titulares y costo de comunicación de crisis de una brecha mediana puede superar los $50 MM CLP sin seguro. Con seguro, el impacto es gestionable.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0812"/>
          </a:solidFill>
          <a:ln w="12700">
            <a:solidFill>
              <a:srgbClr val="2008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VENTAS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Ventas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Ventas y Marketing: el consentimiento es la base de todo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 qué preocuparse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Leads capturados sin consentimiento explícito para contacto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CRM con datos de prospectos acumulados sin plazo de eliminación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Campañas de email marketing sin base legal documentada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Formularios web sin aviso de privacidad visible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Datos de clientes compartidos con agencias de marketing externas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Perfilamiento de clientes sin consentimiento informado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Listas de contactos compradas sin verificar origen legal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Cómo actuar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Auditar todos los formularios de captura de leads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Revisar cada origen de datos en el CRM: ¿tiene base legal?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Actualizar plantillas de email con enlace de baja y aviso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Obtener consentimiento explícito para comunicaciones comerciales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Firmar DPA con agencias de marketing, publicidad y social media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Documentar la finalidad declarada de cada lista de contactos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Establecer proceso de supresión cuando un contacto pide la baja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834640" cy="3950208"/>
          </a:xfrm>
          <a:prstGeom prst="roundRect">
            <a:avLst>
              <a:gd name="adj" fmla="val 2581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005840"/>
            <a:ext cx="2651760" cy="420624"/>
          </a:xfrm>
          <a:prstGeom prst="roundRect">
            <a:avLst>
              <a:gd name="adj" fmla="val 10870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058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Cómo mitigar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50876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Implementar doble opt-in para suscripciones a newsletter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Depurar el CRM: eliminar contactos sin consentimiento verificable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 usar datos capturados para un fin en otro diferente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Registrar timestamp y versión del aviso aceptado por cada lead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Capacitar al equipo comercial en manejo de datos de prospectos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Revisar contratos con CRM SaaS (HubSpot, Salesforce): DPA vigente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0812"/>
          </a:solidFill>
          <a:ln w="12700">
            <a:solidFill>
              <a:srgbClr val="2008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VENTAS · EJEMPLOS CONCRETOS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0233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02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Ventas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365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Situaciones reales que generan infracción en Ventas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051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3444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leads sin consentimiento para email marketing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tiene 15.000 contactos en el CRM capturados en ferias, formularios sin aviso y tarjetas de visita. Ninguno dio consentimiento explícito para recibir emails comerciales. Toda esa base es ilegal desde diciembre 2026.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0515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5000" y="10515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datos de cotización para campaña de marketing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4356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pidió una cotización. Después fue agregado a la lista de newsletter sin su autorización. El dato fue usado para un fin distinto al declarado. Infracción al principio de finalidad: acción directa ante la APDP.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5351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044952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34440" y="30449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de marketing accede al CRM sin DPA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agencia externa que gestiona las campañas tiene acceso al CRM con 30.000 contactos. No hay contrato DPA. Si hay una brecha o mal uso, la empresa es responsable solidaria ante la Agencia.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953512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4608" y="3044952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044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15000" y="30449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web sin checkbox de consentimiento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42900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"Contáctenos" recopila nombre, email y teléfono sin checkbox de consentimiento ni aviso de privacidad. Cada envío es captura de dato sin base legal válida. Infracción leve acumulable.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prioritarias por área antes de diciembre 2026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713232"/>
          </a:xfrm>
          <a:prstGeom prst="roundRect">
            <a:avLst>
              <a:gd name="adj" fmla="val 6410"/>
            </a:avLst>
          </a:prstGeom>
          <a:solidFill>
            <a:srgbClr val="1A0D2E"/>
          </a:solidFill>
          <a:ln w="12700">
            <a:solidFill>
              <a:srgbClr val="1A0D2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78992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RRHH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088136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Definir plazos de retención y eliminar CVs acumulados   ·   ›  Agregar cláusula de datos en contratos laborales   ·   ›  Consentimiento explícito para biometría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64792"/>
            <a:ext cx="8595360" cy="713232"/>
          </a:xfrm>
          <a:prstGeom prst="roundRect">
            <a:avLst>
              <a:gd name="adj" fmla="val 6410"/>
            </a:avLst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883664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836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Operaciones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892808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Firmar DPA con 100% de proveedores que tocan datos   ·   ›  Agregar aviso de privacidad en todos los formularios   ·   ›  Prohibir WhatsApp para compartir datos personales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569464"/>
            <a:ext cx="8595360" cy="713232"/>
          </a:xfrm>
          <a:prstGeom prst="roundRect">
            <a:avLst>
              <a:gd name="adj" fmla="val 6410"/>
            </a:avLst>
          </a:prstGeom>
          <a:solidFill>
            <a:srgbClr val="00201E"/>
          </a:solidFill>
          <a:ln w="12700">
            <a:solidFill>
              <a:srgbClr val="00201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688336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0B4A8">
              <a:alpha val="80000"/>
            </a:srgbClr>
          </a:solidFill>
          <a:ln w="12700">
            <a:solidFill>
              <a:srgbClr val="00B4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883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Tecnología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269748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MFA + cifrado AES-256 + logs 5 años   ·   ›  Protocolo de brechas documentado y probado   ·   ›  Inventario de sistemas y canal ARCOP operativo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374136"/>
            <a:ext cx="8595360" cy="713232"/>
          </a:xfrm>
          <a:prstGeom prst="roundRect">
            <a:avLst>
              <a:gd name="adj" fmla="val 6410"/>
            </a:avLst>
          </a:prstGeom>
          <a:solidFill>
            <a:srgbClr val="050E2A"/>
          </a:solidFill>
          <a:ln w="12700">
            <a:solidFill>
              <a:srgbClr val="050E2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493008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1D4ED8">
              <a:alpha val="8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4930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Finanzas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502152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Presupuestar adecuación y seguro de ciberseguridad   ·   ›  Incluir multas en gestión de riesgos   ·   ›  Revisar contratos con proveedores SaaS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178808"/>
            <a:ext cx="8595360" cy="713232"/>
          </a:xfrm>
          <a:prstGeom prst="roundRect">
            <a:avLst>
              <a:gd name="adj" fmla="val 6410"/>
            </a:avLst>
          </a:prstGeom>
          <a:solidFill>
            <a:srgbClr val="200812"/>
          </a:solidFill>
          <a:ln w="12700">
            <a:solidFill>
              <a:srgbClr val="20081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429768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Ventas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4306824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Auditar el CRM y depurar contactos sin consentimiento   ·   ›  Doble opt-in en formularios y newsletter   ·   ›  DPA con agencias de marketing externas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F"/>
          </a:solidFill>
          <a:ln w="12700">
            <a:solidFill>
              <a:srgbClr val="080C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57200"/>
            <a:ext cx="5486400" cy="5486400"/>
          </a:xfrm>
          <a:prstGeom prst="ellipse">
            <a:avLst/>
          </a:prstGeom>
          <a:solidFill>
            <a:srgbClr val="00B4A8">
              <a:alpha val="6000"/>
            </a:srgbClr>
          </a:solidFill>
          <a:ln w="12700">
            <a:solidFill>
              <a:srgbClr val="00B4A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B4D8">
              <a:alpha val="6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área de su organización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tiene trabajo por hacer.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ShellTI acompaña a todas ellas en el proceso de adecuación.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786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Nuestros servicios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Diagnóstico GAP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Implementación por fases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EPD como servicio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Capacitación certificada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24688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0D1535"/>
          </a:solidFill>
          <a:ln w="12700">
            <a:solidFill>
              <a:srgbClr val="0D15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25786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Contáctenos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www.shellti.com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3364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contacto@shellti.com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21.719 · Vigencia Dic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Ley 21.719 por Áreas Funcionales — ShellTI</dc:title>
  <dc:subject>PptxGenJS Presentation</dc:subject>
  <dc:creator>ShellTI Technology Consultancy</dc:creator>
  <cp:lastModifiedBy>ShellTI Technology Consultancy</cp:lastModifiedBy>
  <cp:revision>1</cp:revision>
  <dcterms:created xsi:type="dcterms:W3CDTF">2026-06-18T19:28:04Z</dcterms:created>
  <dcterms:modified xsi:type="dcterms:W3CDTF">2026-06-18T19:28:04Z</dcterms:modified>
</cp:coreProperties>
</file>