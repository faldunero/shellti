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58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Shape 1"/>
          <p:cNvSpPr/>
          <p:nvPr/>
        </p:nvSpPr>
        <p:spPr>
          <a:xfrm>
            <a:off x="-1371600" y="914400"/>
            <a:ext cx="4572000" cy="4572000"/>
          </a:xfrm>
          <a:prstGeom prst="ellipse">
            <a:avLst/>
          </a:prstGeom>
          <a:solidFill>
            <a:srgbClr val="00B4A8">
              <a:alpha val="6000"/>
            </a:srgbClr>
          </a:solidFill>
          <a:ln w="12700">
            <a:solidFill>
              <a:srgbClr val="00B4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B4D8">
              <a:alpha val="6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SERVICIOS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Adecuación a la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21.719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Personales · Chile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29184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1554480" y="3401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3401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 Technology Consultancy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3794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Cliente]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4187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[DD/MM/AAAA]   ·   Ref: PROP-2026-[NNN]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www.shellti.com  ·  contacto@shellti.com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PROPUESTA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Text 4"/>
          <p:cNvSpPr/>
          <p:nvPr/>
        </p:nvSpPr>
        <p:spPr>
          <a:xfrm>
            <a:off x="594360" y="116128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15568" y="11795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regulatorio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54533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21.719 y las 4 aristas del riesgo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5568" y="2441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que existe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807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vs. requisitos de la ley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594360" y="368503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15568" y="3703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servicios con entregables concretos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4892040" y="116128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13248" y="11795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13248" y="154533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6 fases hacia diciembre 2026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13432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2" name="Text 20"/>
          <p:cNvSpPr/>
          <p:nvPr/>
        </p:nvSpPr>
        <p:spPr>
          <a:xfrm>
            <a:off x="4892040" y="2423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13248" y="2441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ShellTI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2807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y marco técnico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575304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6" name="Text 24"/>
          <p:cNvSpPr/>
          <p:nvPr/>
        </p:nvSpPr>
        <p:spPr>
          <a:xfrm>
            <a:off x="4892040" y="368503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13248" y="3703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avanzar juntos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 REGULATORIO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Ley 21.719 ya no es una opción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plena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05156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el 13 de diciembre de 2024 en el Diario Oficial, la Ley 21.719 reforma íntegramente la Ley 19.628 de 1999 y crea la Agencia de Protección de Datos Personales (APDP) con facultades reales de fiscalizar, investigar y sancionar.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toda organización que trate datos personales de personas en Chile — sin importar tamaño, rubro ni domicilio.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20.000 UTM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máxima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3063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2724912" y="3200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ingresos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24912" y="38221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reincidencia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9744" y="3063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7" name="Text 15"/>
          <p:cNvSpPr/>
          <p:nvPr/>
        </p:nvSpPr>
        <p:spPr>
          <a:xfrm>
            <a:off x="4901184" y="3200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días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01184" y="38221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suspensión operaciones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86016" y="3063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0" name="Text 18"/>
          <p:cNvSpPr/>
          <p:nvPr/>
        </p:nvSpPr>
        <p:spPr>
          <a:xfrm>
            <a:off x="7077456" y="3200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años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77456" y="38221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sanción pública en registro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 REGULATORIO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incumplimiento impacta 4 aristas del negocio a la vez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84832" cy="3950208"/>
          </a:xfrm>
          <a:prstGeom prst="roundRect">
            <a:avLst>
              <a:gd name="adj" fmla="val 3509"/>
            </a:avLst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Text 4"/>
          <p:cNvSpPr/>
          <p:nvPr/>
        </p:nvSpPr>
        <p:spPr>
          <a:xfrm>
            <a:off x="384048" y="1024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Reputacional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426464"/>
            <a:ext cx="1874520" cy="18288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Pérdida de confianza de clientes y socios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Cobertura mediática negativa amplificada en redes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Sanciones publicadas 5 años en registro público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Los competidores usan el incumplimiento como argumento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2084832" cy="3950208"/>
          </a:xfrm>
          <a:prstGeom prst="roundRect">
            <a:avLst>
              <a:gd name="adj" fmla="val 3509"/>
            </a:avLst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2560320" y="1024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Legal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426464"/>
            <a:ext cx="1874520" cy="1828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/>
          <p:nvPr/>
        </p:nvSpPr>
        <p:spPr>
          <a:xfrm>
            <a:off x="2560320" y="15087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Multas hasta 20.000 UTM (~$1.430 MM CLP)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4% ingresos anuales en reincidencia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Suspensión de operaciones hasta 30 días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Responsabilidad personal de directivos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2084832" cy="3950208"/>
          </a:xfrm>
          <a:prstGeom prst="roundRect">
            <a:avLst>
              <a:gd name="adj" fmla="val 3509"/>
            </a:avLst>
          </a:prstGeom>
          <a:solidFill>
            <a:srgbClr val="1A1000"/>
          </a:solidFill>
          <a:ln w="12700">
            <a:solidFill>
              <a:srgbClr val="1A1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4736592" y="1024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Operacional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36592" y="1426464"/>
            <a:ext cx="1874520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6" name="Text 14"/>
          <p:cNvSpPr/>
          <p:nvPr/>
        </p:nvSpPr>
        <p:spPr>
          <a:xfrm>
            <a:off x="4736592" y="15087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Detención de sistemas CRM, ERP, RRHH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Auditorías forzadas por la Agencia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Remediación de emergencia 3-5x más cara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Rediseño urgente de procesos y sistemas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03136" y="960120"/>
            <a:ext cx="2084832" cy="3950208"/>
          </a:xfrm>
          <a:prstGeom prst="roundRect">
            <a:avLst>
              <a:gd name="adj" fmla="val 3509"/>
            </a:avLst>
          </a:prstGeom>
          <a:solidFill>
            <a:srgbClr val="001A0D"/>
          </a:solidFill>
          <a:ln w="12700">
            <a:solidFill>
              <a:srgbClr val="001A0D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6912864" y="1024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Financiero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12864" y="1426464"/>
            <a:ext cx="1874520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0" name="Text 18"/>
          <p:cNvSpPr/>
          <p:nvPr/>
        </p:nvSpPr>
        <p:spPr>
          <a:xfrm>
            <a:off x="6912864" y="15087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Compensaciones a titulares afectados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Pérdida de contratos B2B y licitaciones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Honorarios legales y de consultoría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Impacto en valoración y acceso a crédito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BRECHA QUE EXISTE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vs. requisitos de la Ley 21.719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0D2A3A"/>
          </a:solidFill>
          <a:ln w="12700">
            <a:solidFill>
              <a:srgbClr val="0D2A3A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1024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típico hoy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1024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Ley 21.719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8595360" cy="530352"/>
          </a:xfrm>
          <a:prstGeom prst="roundRect">
            <a:avLst>
              <a:gd name="adj" fmla="val 689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datos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4904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Desconocido o parcial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 documentado y actualizado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20824"/>
            <a:ext cx="8595360" cy="530352"/>
          </a:xfrm>
          <a:prstGeom prst="roundRect">
            <a:avLst>
              <a:gd name="adj" fmla="val 6897"/>
            </a:avLst>
          </a:prstGeom>
          <a:solidFill>
            <a:srgbClr val="0A1028"/>
          </a:solidFill>
          <a:ln w="12700">
            <a:solidFill>
              <a:srgbClr val="0A1028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457200" y="2093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20939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Implícitos o genéricos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2093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Explícitos, granulares y trazables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24328"/>
            <a:ext cx="8595360" cy="530352"/>
          </a:xfrm>
          <a:prstGeom prst="roundRect">
            <a:avLst>
              <a:gd name="adj" fmla="val 689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proveedores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2697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 cláusulas DPA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DPA firmado con cada encargado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227832"/>
            <a:ext cx="8595360" cy="530352"/>
          </a:xfrm>
          <a:prstGeom prst="roundRect">
            <a:avLst>
              <a:gd name="adj" fmla="val 6897"/>
            </a:avLst>
          </a:prstGeom>
          <a:solidFill>
            <a:srgbClr val="0A1028"/>
          </a:solidFill>
          <a:ln w="12700">
            <a:solidFill>
              <a:srgbClr val="0A1028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2" name="Text 20"/>
          <p:cNvSpPr/>
          <p:nvPr/>
        </p:nvSpPr>
        <p:spPr>
          <a:xfrm>
            <a:off x="457200" y="3300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ARCOP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33009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Inexistente o informal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3300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Operativo 24/7, plazo 30 días hábiles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831336"/>
            <a:ext cx="8595360" cy="530352"/>
          </a:xfrm>
          <a:prstGeom prst="roundRect">
            <a:avLst>
              <a:gd name="adj" fmla="val 689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6" name="Text 24"/>
          <p:cNvSpPr/>
          <p:nvPr/>
        </p:nvSpPr>
        <p:spPr>
          <a:xfrm>
            <a:off x="45720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técnicos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54680" y="39044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Básicos o ausentes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MFA, cifrado AES-256, logs 5 años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434840"/>
            <a:ext cx="8595360" cy="530352"/>
          </a:xfrm>
          <a:prstGeom prst="roundRect">
            <a:avLst>
              <a:gd name="adj" fmla="val 6897"/>
            </a:avLst>
          </a:prstGeom>
          <a:solidFill>
            <a:srgbClr val="0A1028"/>
          </a:solidFill>
          <a:ln w="12700">
            <a:solidFill>
              <a:srgbClr val="0A1028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30" name="Text 28"/>
          <p:cNvSpPr/>
          <p:nvPr/>
        </p:nvSpPr>
        <p:spPr>
          <a:xfrm>
            <a:off x="457200" y="4507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brechas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54680" y="45079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 definir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4507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Documentado y probado: 72 horas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NUESTRA PROPUESTA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servicios. Un camino completo.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00B4A8">
              <a:alpha val="80000"/>
            </a:srgbClr>
          </a:solidFill>
          <a:ln w="12700">
            <a:solidFill>
              <a:srgbClr val="00B4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07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Informe + Roadmap personalizado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completa del estado de cumplimiento frente a la Ley 21.719.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3" name="Text 11"/>
          <p:cNvSpPr/>
          <p:nvPr/>
        </p:nvSpPr>
        <p:spPr>
          <a:xfrm>
            <a:off x="49377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1207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por fases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5544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Evidencias operativas auditables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brechas en fases de 30 días sin paralizar la operación.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218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como servicio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566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EPD activo + informes mensuales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Actuamos como su Encargado de Protección de Datos ante la Agencia.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4" name="Shape 22"/>
          <p:cNvSpPr/>
          <p:nvPr/>
        </p:nvSpPr>
        <p:spPr>
          <a:xfrm>
            <a:off x="4937760" y="3200400"/>
            <a:ext cx="548640" cy="54864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5" name="Text 23"/>
          <p:cNvSpPr/>
          <p:nvPr/>
        </p:nvSpPr>
        <p:spPr>
          <a:xfrm>
            <a:off x="49377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23560" y="3218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certificada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3566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Certificados + evidencia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931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documentada para todo el personal con acceso a datos.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SERVICIO 1 — DIAGNÓSTICO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exactamente dónde está antes de que lo sepa la Agencia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datos personales por sistema y proceso
</a:t>
            </a:r>
            <a:r>
              <a:rPr lang="en-US" sz="115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brechas vs. Ley 21.719 y DS 662
</a:t>
            </a:r>
            <a:r>
              <a:rPr lang="en-US" sz="115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madurez de cumplimiento por área
</a:t>
            </a:r>
            <a:r>
              <a:rPr lang="en-US" sz="115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priorización de riesgos
</a:t>
            </a:r>
            <a:r>
              <a:rPr lang="en-US" sz="115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ejecutivo para CFO, CIO y Dirección
</a:t>
            </a:r>
            <a:r>
              <a:rPr lang="en-US" sz="115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 priorizado con fases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GAP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Roadmap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personalizado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937760" y="2743200"/>
            <a:ext cx="3657600" cy="18288"/>
          </a:xfrm>
          <a:prstGeom prst="rect">
            <a:avLst/>
          </a:prstGeom>
          <a:solidFill>
            <a:srgbClr val="00B4A8">
              <a:alpha val="40000"/>
            </a:srgbClr>
          </a:solidFill>
          <a:ln w="12700">
            <a:solidFill>
              <a:srgbClr val="00B4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 4 semanas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entrega concreta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avanzar a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08445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SERVICIO 3 — EPD COMO SERVICIO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Encargado de Protección de Datos que su organización necesita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0D1A2A"/>
          </a:solidFill>
          <a:ln w="12700">
            <a:solidFill>
              <a:srgbClr val="0D1A2A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= Encargado de Protección de Datos  ·  Equivalente al DPO (Data Protection Officer) del GDPR europeo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834640" cy="3090672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obligatorio?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Organismos públicos — siempre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Tratamiento masivo de datos sensibles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Monitoreo sistemático a gran escala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Al adoptar un Modelo de Prevención (MPI)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834640" cy="3090672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ShellTI hace como su EPD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237744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Designación formal ante la Agencia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Supervisión continua del cumplimiento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Gestión de solicitudes ARCOP complejas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Respuesta a requerimientos de la APDP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Informes periódicos a la dirección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Actualización ante cambios regulatorios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834640" cy="3090672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EPD como servicio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Sin costo de contratación permanente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Perfil técnico-legal inmediatamente disponible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Independencia requerida por la ley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Escalable según sus necesidades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Experiencia transversal en múltiples clientes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PLAN DE TRABAJO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6 fases hacia diciembre 2026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53312" cy="3840480"/>
          </a:xfrm>
          <a:prstGeom prst="roundRect">
            <a:avLst>
              <a:gd name="adj" fmla="val 5405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00B4A8">
              <a:alpha val="85000"/>
            </a:srgbClr>
          </a:solidFill>
          <a:ln w="12700">
            <a:solidFill>
              <a:srgbClr val="00B4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4086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88336"/>
            <a:ext cx="1078992" cy="18288"/>
          </a:xfrm>
          <a:prstGeom prst="rect">
            <a:avLst/>
          </a:prstGeom>
          <a:solidFill>
            <a:srgbClr val="00B4A8">
              <a:alpha val="30000"/>
            </a:srgbClr>
          </a:solidFill>
          <a:ln w="12700">
            <a:solidFill>
              <a:srgbClr val="00B4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· Score · Brechas · Riesgos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37360" y="1005840"/>
            <a:ext cx="1353312" cy="3840480"/>
          </a:xfrm>
          <a:prstGeom prst="roundRect">
            <a:avLst>
              <a:gd name="adj" fmla="val 5405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3" name="Shape 11"/>
          <p:cNvSpPr/>
          <p:nvPr/>
        </p:nvSpPr>
        <p:spPr>
          <a:xfrm>
            <a:off x="1874520" y="1078992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1874520" y="107899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1664208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legales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34086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2–3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2688336"/>
            <a:ext cx="1078992" cy="18288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1828800" y="278892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· RAT · EPD designado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1353312" cy="3840480"/>
          </a:xfrm>
          <a:prstGeom prst="roundRect">
            <a:avLst>
              <a:gd name="adj" fmla="val 5405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0" name="Shape 18"/>
          <p:cNvSpPr/>
          <p:nvPr/>
        </p:nvSpPr>
        <p:spPr>
          <a:xfrm>
            <a:off x="3337560" y="1078992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1" name="Text 19"/>
          <p:cNvSpPr/>
          <p:nvPr/>
        </p:nvSpPr>
        <p:spPr>
          <a:xfrm>
            <a:off x="3337560" y="107899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1664208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DPA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34086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3–4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688336"/>
            <a:ext cx="1078992" cy="18288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5" name="Text 23"/>
          <p:cNvSpPr/>
          <p:nvPr/>
        </p:nvSpPr>
        <p:spPr>
          <a:xfrm>
            <a:off x="3291840" y="278892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proveedores · TIDP/CCM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1353312" cy="3840480"/>
          </a:xfrm>
          <a:prstGeom prst="roundRect">
            <a:avLst>
              <a:gd name="adj" fmla="val 5405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7" name="Shape 25"/>
          <p:cNvSpPr/>
          <p:nvPr/>
        </p:nvSpPr>
        <p:spPr>
          <a:xfrm>
            <a:off x="4800600" y="1078992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8" name="Text 26"/>
          <p:cNvSpPr/>
          <p:nvPr/>
        </p:nvSpPr>
        <p:spPr>
          <a:xfrm>
            <a:off x="4800600" y="107899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54880" y="1664208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DS 662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34086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4–5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688336"/>
            <a:ext cx="1078992" cy="1828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2" name="Text 30"/>
          <p:cNvSpPr/>
          <p:nvPr/>
        </p:nvSpPr>
        <p:spPr>
          <a:xfrm>
            <a:off x="4754880" y="278892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· Cifrado · Logs · Canal ARCOP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1005840"/>
            <a:ext cx="1353312" cy="3840480"/>
          </a:xfrm>
          <a:prstGeom prst="roundRect">
            <a:avLst>
              <a:gd name="adj" fmla="val 5405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34" name="Shape 32"/>
          <p:cNvSpPr/>
          <p:nvPr/>
        </p:nvSpPr>
        <p:spPr>
          <a:xfrm>
            <a:off x="6263640" y="1078992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5" name="Text 33"/>
          <p:cNvSpPr/>
          <p:nvPr/>
        </p:nvSpPr>
        <p:spPr>
          <a:xfrm>
            <a:off x="6263640" y="107899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17920" y="1664208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234086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2688336"/>
            <a:ext cx="1078992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9" name="Text 37"/>
          <p:cNvSpPr/>
          <p:nvPr/>
        </p:nvSpPr>
        <p:spPr>
          <a:xfrm>
            <a:off x="6217920" y="278892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personal · Certificados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89520" y="1005840"/>
            <a:ext cx="1353312" cy="3840480"/>
          </a:xfrm>
          <a:prstGeom prst="roundRect">
            <a:avLst>
              <a:gd name="adj" fmla="val 5405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41" name="Shape 39"/>
          <p:cNvSpPr/>
          <p:nvPr/>
        </p:nvSpPr>
        <p:spPr>
          <a:xfrm>
            <a:off x="7726680" y="1078992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60A5FA">
              <a:alpha val="85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2" name="Text 40"/>
          <p:cNvSpPr/>
          <p:nvPr/>
        </p:nvSpPr>
        <p:spPr>
          <a:xfrm>
            <a:off x="7726680" y="107899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680960" y="1664208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cierre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234086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26680" y="2688336"/>
            <a:ext cx="1078992" cy="18288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6" name="Text 44"/>
          <p:cNvSpPr/>
          <p:nvPr/>
        </p:nvSpPr>
        <p:spPr>
          <a:xfrm>
            <a:off x="7680960" y="278892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interna · Declaración EPD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83268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cada fase produce evidencia auditable → 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POR QUÉ SHELLTI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que se puede demostrar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multidisciplinario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técnico + operacional en un solo equipo. La adecuación a la Ley 21.719 no puede hacerse solo desde una dimensión.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489204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7784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evidencia operativa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entregamos documentos que quedan en un cajón. Construimos evidencia que funciona cuando la Agencia fiscaliza.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según su tamaño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dimensionan al volumen de datos, sistemas y presupuesto de cada organización. PYMEs y empresas medianas.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7784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post-implementación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204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cumplimiento no termina en diciembre 2026. El EPD y monitoreo continuo aseguran que mantenga el estándar.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MARCO TÉCNICO DE REFERENCIA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cumplimiento se sustenta en tres marcos simultáneos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3886200"/>
          </a:xfrm>
          <a:prstGeom prst="roundRect">
            <a:avLst>
              <a:gd name="adj" fmla="val 2581"/>
            </a:avLst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17904"/>
            <a:ext cx="2560320" cy="1828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Ley 21.719 — todos los artículos aplicables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Decreto Supremo N° 662 — controles técnicos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Transferencias internacionales TIDP + CCM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DPIA/EIPD — evaluación de impacto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Derechos ARCOP — canal y procesos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834640" cy="3886200"/>
          </a:xfrm>
          <a:prstGeom prst="roundRect">
            <a:avLst>
              <a:gd name="adj" fmla="val 2581"/>
            </a:avLst>
          </a:prstGeom>
          <a:solidFill>
            <a:srgbClr val="001A14"/>
          </a:solidFill>
          <a:ln w="12700">
            <a:solidFill>
              <a:srgbClr val="001A14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0" name="Text 8"/>
          <p:cNvSpPr/>
          <p:nvPr/>
        </p:nvSpPr>
        <p:spPr>
          <a:xfrm>
            <a:off x="3383280" y="1097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Técnico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517904"/>
            <a:ext cx="2560320" cy="18288"/>
          </a:xfrm>
          <a:prstGeom prst="rect">
            <a:avLst/>
          </a:prstGeom>
          <a:solidFill>
            <a:srgbClr val="00B4A8">
              <a:alpha val="40000"/>
            </a:srgbClr>
          </a:solidFill>
          <a:ln w="12700">
            <a:solidFill>
              <a:srgbClr val="00B4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ISO/IEC 27001:2022 — seguridad demostrable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MFA en sistemas con datos personales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Cifrado AES-256 en reposo + TLS 1.3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Logs de auditoría: retención 5 años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Gestión de identidad y acceso (IAM)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834640" cy="3886200"/>
          </a:xfrm>
          <a:prstGeom prst="roundRect">
            <a:avLst>
              <a:gd name="adj" fmla="val 2581"/>
            </a:avLst>
          </a:prstGeom>
          <a:solidFill>
            <a:srgbClr val="1A1000"/>
          </a:solidFill>
          <a:ln w="12700">
            <a:solidFill>
              <a:srgbClr val="1A1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/>
          <p:nvPr/>
        </p:nvSpPr>
        <p:spPr>
          <a:xfrm>
            <a:off x="6355080" y="1097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Operacional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1517904"/>
            <a:ext cx="2560320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6" name="Text 14"/>
          <p:cNvSpPr/>
          <p:nvPr/>
        </p:nvSpPr>
        <p:spPr>
          <a:xfrm>
            <a:off x="6355080" y="1627632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Ley Marco de Ciberseguridad — 8 principios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Canal ARCOP operativo 24/7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Protocolo de brechas: 72 horas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Registro de Actividades de Tratamiento (RAT)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Capacitación anual documentada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PRÓXIMOS PASOS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avanzar juntos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603504" cy="603504"/>
          </a:xfrm>
          <a:prstGeom prst="ellipse">
            <a:avLst/>
          </a:prstGeom>
          <a:solidFill>
            <a:srgbClr val="00B4A8">
              <a:alpha val="80000"/>
            </a:srgbClr>
          </a:solidFill>
          <a:ln w="12700">
            <a:solidFill>
              <a:srgbClr val="00B4A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/>
          <p:nvPr/>
        </p:nvSpPr>
        <p:spPr>
          <a:xfrm>
            <a:off x="384048" y="1115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interna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447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equipo revisa la propuesta y eleva consultas con nuestro equipo.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1" name="Shape 9"/>
          <p:cNvSpPr/>
          <p:nvPr/>
        </p:nvSpPr>
        <p:spPr>
          <a:xfrm>
            <a:off x="384048" y="2075688"/>
            <a:ext cx="603504" cy="603504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/>
          <p:nvPr/>
        </p:nvSpPr>
        <p:spPr>
          <a:xfrm>
            <a:off x="384048" y="20756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15568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alineamiento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404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alcance, fases y calendario según la realidad de su organización (presencial o remota).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16" name="Shape 14"/>
          <p:cNvSpPr/>
          <p:nvPr/>
        </p:nvSpPr>
        <p:spPr>
          <a:xfrm>
            <a:off x="384048" y="3035808"/>
            <a:ext cx="603504" cy="603504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7" name="Text 15"/>
          <p:cNvSpPr/>
          <p:nvPr/>
        </p:nvSpPr>
        <p:spPr>
          <a:xfrm>
            <a:off x="384048" y="3035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5568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AMS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3649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Marco de Servicios con cláusulas de confidencialidad y protección de datos.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1" name="Shape 19"/>
          <p:cNvSpPr/>
          <p:nvPr/>
        </p:nvSpPr>
        <p:spPr>
          <a:xfrm>
            <a:off x="384048" y="3995928"/>
            <a:ext cx="603504" cy="603504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2" name="Text 20"/>
          <p:cNvSpPr/>
          <p:nvPr/>
        </p:nvSpPr>
        <p:spPr>
          <a:xfrm>
            <a:off x="384048" y="3995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15568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GAP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3251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Diagnóstico GAP. Primera entrega en 4 semanas.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736592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válida por 30 días desde la fecha de emisión  ·  Servicios sujetos a disponibilidad de agenda y firma de AMS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3" name="Shape 1"/>
          <p:cNvSpPr/>
          <p:nvPr/>
        </p:nvSpPr>
        <p:spPr>
          <a:xfrm>
            <a:off x="-1828800" y="457200"/>
            <a:ext cx="5486400" cy="5486400"/>
          </a:xfrm>
          <a:prstGeom prst="ellipse">
            <a:avLst/>
          </a:prstGeom>
          <a:solidFill>
            <a:srgbClr val="00B4A8">
              <a:alpha val="6000"/>
            </a:srgbClr>
          </a:solidFill>
          <a:ln w="12700">
            <a:solidFill>
              <a:srgbClr val="00B4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>
              <a:alpha val="6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Diciembre 2026 se acerca.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momento para empezar fue ayer.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segundo mejor momento es hoy.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6400800" cy="1600200"/>
          </a:xfrm>
          <a:prstGeom prst="roundRect">
            <a:avLst>
              <a:gd name="adj" fmla="val 457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L"/>
          </a:p>
        </p:txBody>
      </p:sp>
      <p:sp>
        <p:nvSpPr>
          <p:cNvPr id="8" name="Text 6"/>
          <p:cNvSpPr/>
          <p:nvPr/>
        </p:nvSpPr>
        <p:spPr>
          <a:xfrm>
            <a:off x="1554480" y="30632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ShellTI Technology Consultancy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52044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www.shellti.com  ·  contacto@shellti.com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391363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21.719  ·  Vigencia Diciembre 2026  ·  Compliance Consulting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1266</Words>
  <Application>Microsoft Macintosh PowerPoint</Application>
  <PresentationFormat>On-screen Show (16:9)</PresentationFormat>
  <Paragraphs>238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Comercial ShellTI — Ley 21.719</dc:title>
  <dc:subject>PptxGenJS Presentation</dc:subject>
  <dc:creator>ShellTI Technology Consultancy</dc:creator>
  <cp:lastModifiedBy>Felipe Aldunate</cp:lastModifiedBy>
  <cp:revision>2</cp:revision>
  <dcterms:created xsi:type="dcterms:W3CDTF">2026-06-18T18:50:39Z</dcterms:created>
  <dcterms:modified xsi:type="dcterms:W3CDTF">2026-06-18T19:06:38Z</dcterms:modified>
</cp:coreProperties>
</file>